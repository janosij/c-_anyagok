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21"/>
  </p:handout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6" r:id="rId9"/>
    <p:sldId id="297" r:id="rId10"/>
    <p:sldId id="298" r:id="rId11"/>
    <p:sldId id="299" r:id="rId12"/>
    <p:sldId id="303" r:id="rId13"/>
    <p:sldId id="300" r:id="rId14"/>
    <p:sldId id="301" r:id="rId15"/>
    <p:sldId id="302" r:id="rId16"/>
    <p:sldId id="312" r:id="rId17"/>
    <p:sldId id="304" r:id="rId18"/>
    <p:sldId id="311" r:id="rId19"/>
    <p:sldId id="31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2020. 03. 11.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STRING KEZELÉS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927847"/>
            <a:ext cx="11120717" cy="5803154"/>
          </a:xfrm>
        </p:spPr>
        <p:txBody>
          <a:bodyPr>
            <a:normAutofit lnSpcReduction="10000"/>
          </a:bodyPr>
          <a:lstStyle/>
          <a:p>
            <a:r>
              <a:rPr lang="hu-HU" dirty="0"/>
              <a:t>Deklaráció: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azonosító=”kezdőérték”;</a:t>
            </a:r>
          </a:p>
          <a:p>
            <a:r>
              <a:rPr lang="hu-HU" dirty="0"/>
              <a:t>Értékadás: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azonosító=”érték”;</a:t>
            </a:r>
          </a:p>
          <a:p>
            <a:r>
              <a:rPr lang="hu-HU" dirty="0"/>
              <a:t>Két </a:t>
            </a:r>
            <a:r>
              <a:rPr lang="hu-HU" dirty="0" err="1"/>
              <a:t>string</a:t>
            </a:r>
            <a:r>
              <a:rPr lang="hu-HU" dirty="0"/>
              <a:t> összefűzése: pl.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s3=s1+s2;</a:t>
            </a:r>
            <a:r>
              <a:rPr lang="hu-HU" dirty="0"/>
              <a:t> Ilyenkor az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s3</a:t>
            </a:r>
            <a:r>
              <a:rPr lang="hu-HU" dirty="0"/>
              <a:t>-ba az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hu-HU" dirty="0"/>
              <a:t> és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s2</a:t>
            </a:r>
            <a:r>
              <a:rPr lang="hu-HU" dirty="0"/>
              <a:t> összefűzése kerül. Másik példa: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s1+=”abc”; </a:t>
            </a:r>
            <a:r>
              <a:rPr lang="hu-HU" dirty="0"/>
              <a:t>Ekkor az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s1</a:t>
            </a:r>
            <a:r>
              <a:rPr lang="hu-HU" dirty="0"/>
              <a:t> végéhez hozzáfűzzük az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”abc” </a:t>
            </a:r>
            <a:r>
              <a:rPr lang="hu-HU" dirty="0"/>
              <a:t>szöveget.</a:t>
            </a:r>
          </a:p>
          <a:p>
            <a:r>
              <a:rPr lang="hu-HU" dirty="0"/>
              <a:t>Hivatkozás egy </a:t>
            </a:r>
            <a:r>
              <a:rPr lang="hu-HU" dirty="0" err="1"/>
              <a:t>string</a:t>
            </a:r>
            <a:r>
              <a:rPr lang="hu-HU" dirty="0"/>
              <a:t> karakterére: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azonosító[index]</a:t>
            </a:r>
            <a:r>
              <a:rPr lang="hu-HU" dirty="0"/>
              <a:t> pl.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s[0] </a:t>
            </a:r>
            <a:r>
              <a:rPr lang="hu-HU" dirty="0"/>
              <a:t>a </a:t>
            </a:r>
            <a:r>
              <a:rPr lang="hu-HU" dirty="0" err="1"/>
              <a:t>string</a:t>
            </a:r>
            <a:r>
              <a:rPr lang="hu-HU" dirty="0"/>
              <a:t> első karaktere.</a:t>
            </a:r>
          </a:p>
          <a:p>
            <a:r>
              <a:rPr lang="hu-HU" dirty="0"/>
              <a:t>A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dirty="0"/>
              <a:t> hosszát az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azonosító.Length</a:t>
            </a:r>
            <a:r>
              <a:rPr lang="hu-HU" dirty="0"/>
              <a:t> tulajdonsággal lehet lekérni. Pl.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szöveg.Length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793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STRING KEZELÉS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398495"/>
            <a:ext cx="10131425" cy="5332506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string</a:t>
            </a:r>
            <a:r>
              <a:rPr lang="hu-HU" dirty="0"/>
              <a:t> összes karakterének végigolvasása:</a:t>
            </a:r>
          </a:p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(int i=0;i&lt;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 /*Ide jönnek az utasítások, pl.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(s[i]);*/}</a:t>
            </a:r>
          </a:p>
          <a:p>
            <a:pPr marL="0" indent="0">
              <a:buNone/>
            </a:pPr>
            <a:r>
              <a:rPr lang="hu-HU" dirty="0"/>
              <a:t>VAGY</a:t>
            </a:r>
          </a:p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s)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{/*Ide jönnek az utasítások, pl.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);*/}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621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STRING KEZELÉS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398495"/>
            <a:ext cx="10131425" cy="5332506"/>
          </a:xfrm>
        </p:spPr>
        <p:txBody>
          <a:bodyPr>
            <a:normAutofit/>
          </a:bodyPr>
          <a:lstStyle/>
          <a:p>
            <a:r>
              <a:rPr lang="hu-HU" dirty="0"/>
              <a:t>Függvények </a:t>
            </a:r>
            <a:r>
              <a:rPr lang="hu-HU" dirty="0" err="1"/>
              <a:t>string</a:t>
            </a:r>
            <a:r>
              <a:rPr lang="hu-HU" dirty="0"/>
              <a:t> kezelésére (pl. </a:t>
            </a:r>
            <a:r>
              <a:rPr lang="hu-HU" dirty="0" err="1"/>
              <a:t>string</a:t>
            </a:r>
            <a:r>
              <a:rPr lang="hu-HU" dirty="0"/>
              <a:t> s esetén):</a:t>
            </a:r>
          </a:p>
          <a:p>
            <a:pPr lvl="1"/>
            <a:r>
              <a:rPr lang="hu-HU" dirty="0" err="1"/>
              <a:t>s.Compare</a:t>
            </a:r>
            <a:r>
              <a:rPr lang="hu-HU" dirty="0"/>
              <a:t>: Két </a:t>
            </a:r>
            <a:r>
              <a:rPr lang="hu-HU" dirty="0" err="1"/>
              <a:t>string</a:t>
            </a:r>
            <a:r>
              <a:rPr lang="hu-HU" dirty="0"/>
              <a:t> összehasonlítása</a:t>
            </a:r>
          </a:p>
          <a:p>
            <a:pPr lvl="1"/>
            <a:r>
              <a:rPr lang="hu-HU" dirty="0" err="1"/>
              <a:t>s.IndexOf</a:t>
            </a:r>
            <a:r>
              <a:rPr lang="hu-HU" dirty="0"/>
              <a:t>, </a:t>
            </a:r>
            <a:r>
              <a:rPr lang="hu-HU" dirty="0" err="1"/>
              <a:t>s.IndexOfAny</a:t>
            </a:r>
            <a:r>
              <a:rPr lang="hu-HU" dirty="0"/>
              <a:t>(</a:t>
            </a:r>
            <a:r>
              <a:rPr lang="hu-HU" dirty="0" err="1"/>
              <a:t>chs</a:t>
            </a:r>
            <a:r>
              <a:rPr lang="hu-HU" dirty="0"/>
              <a:t>): Adott karakter, vagy karakterek keresése egy </a:t>
            </a:r>
            <a:r>
              <a:rPr lang="hu-HU" dirty="0" err="1"/>
              <a:t>string-ben</a:t>
            </a:r>
            <a:r>
              <a:rPr lang="hu-HU" dirty="0"/>
              <a:t> az elejéről.</a:t>
            </a:r>
          </a:p>
          <a:p>
            <a:pPr lvl="1"/>
            <a:r>
              <a:rPr lang="hu-HU" dirty="0" err="1"/>
              <a:t>s.LastIndexOf</a:t>
            </a:r>
            <a:r>
              <a:rPr lang="hu-HU" dirty="0"/>
              <a:t>, </a:t>
            </a:r>
            <a:r>
              <a:rPr lang="hu-HU" dirty="0" err="1"/>
              <a:t>s.LastIndexOfAny</a:t>
            </a:r>
            <a:r>
              <a:rPr lang="hu-HU" dirty="0"/>
              <a:t>(</a:t>
            </a:r>
            <a:r>
              <a:rPr lang="hu-HU" dirty="0" err="1"/>
              <a:t>chs</a:t>
            </a:r>
            <a:r>
              <a:rPr lang="hu-HU" dirty="0"/>
              <a:t>): Keresés a végéről.</a:t>
            </a:r>
          </a:p>
          <a:p>
            <a:pPr lvl="1"/>
            <a:r>
              <a:rPr lang="hu-HU" dirty="0" err="1"/>
              <a:t>s.Contains</a:t>
            </a:r>
            <a:r>
              <a:rPr lang="hu-HU" dirty="0"/>
              <a:t>(”Szöveg”): Tartalmazza-e s a ”szöveg”-</a:t>
            </a:r>
            <a:r>
              <a:rPr lang="hu-HU" dirty="0" err="1"/>
              <a:t>et</a:t>
            </a:r>
            <a:r>
              <a:rPr lang="hu-HU" dirty="0"/>
              <a:t>.</a:t>
            </a:r>
          </a:p>
          <a:p>
            <a:pPr lvl="1"/>
            <a:endParaRPr lang="hu-HU" dirty="0"/>
          </a:p>
          <a:p>
            <a:r>
              <a:rPr lang="hu-HU" dirty="0"/>
              <a:t>Példák: gyakorlaton</a:t>
            </a:r>
          </a:p>
        </p:txBody>
      </p:sp>
    </p:spTree>
    <p:extLst>
      <p:ext uri="{BB962C8B-B14F-4D97-AF65-F5344CB8AC3E}">
        <p14:creationId xmlns:p14="http://schemas.microsoft.com/office/powerpoint/2010/main" val="3751043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STRING KEZELÉS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941294"/>
            <a:ext cx="10131425" cy="5789707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Függvények </a:t>
            </a:r>
            <a:r>
              <a:rPr lang="hu-HU" dirty="0" err="1"/>
              <a:t>string</a:t>
            </a:r>
            <a:r>
              <a:rPr lang="hu-HU" dirty="0"/>
              <a:t> kezelésére (pl. </a:t>
            </a:r>
            <a:r>
              <a:rPr lang="hu-HU" dirty="0" err="1"/>
              <a:t>string</a:t>
            </a:r>
            <a:r>
              <a:rPr lang="hu-HU" dirty="0"/>
              <a:t> s esetén):</a:t>
            </a:r>
          </a:p>
          <a:p>
            <a:pPr lvl="1"/>
            <a:r>
              <a:rPr lang="hu-HU" dirty="0" err="1"/>
              <a:t>s.Replace</a:t>
            </a:r>
            <a:r>
              <a:rPr lang="hu-HU" dirty="0"/>
              <a:t>: A </a:t>
            </a:r>
            <a:r>
              <a:rPr lang="hu-HU" dirty="0" err="1"/>
              <a:t>string-ben</a:t>
            </a:r>
            <a:r>
              <a:rPr lang="hu-HU" dirty="0"/>
              <a:t> egy karaktert másikra cserél</a:t>
            </a:r>
          </a:p>
          <a:p>
            <a:pPr lvl="1"/>
            <a:r>
              <a:rPr lang="hu-HU" dirty="0" err="1"/>
              <a:t>s.Trim</a:t>
            </a:r>
            <a:r>
              <a:rPr lang="hu-HU" dirty="0"/>
              <a:t>: Adott karaktereket töröl a </a:t>
            </a:r>
            <a:r>
              <a:rPr lang="hu-HU" dirty="0" err="1"/>
              <a:t>string</a:t>
            </a:r>
            <a:r>
              <a:rPr lang="hu-HU" dirty="0"/>
              <a:t> elejéről, illetve végéről.</a:t>
            </a:r>
          </a:p>
          <a:p>
            <a:pPr lvl="1"/>
            <a:r>
              <a:rPr lang="hu-HU" dirty="0" err="1"/>
              <a:t>s.Insert</a:t>
            </a:r>
            <a:r>
              <a:rPr lang="hu-HU" dirty="0"/>
              <a:t>: Adott helyre adott szöveget beilleszt.</a:t>
            </a:r>
          </a:p>
          <a:p>
            <a:pPr lvl="1"/>
            <a:r>
              <a:rPr lang="hu-HU" dirty="0" err="1"/>
              <a:t>s.Remove</a:t>
            </a:r>
            <a:r>
              <a:rPr lang="hu-HU" dirty="0"/>
              <a:t>: Adott helyről adott számú karaktert töröl. </a:t>
            </a:r>
          </a:p>
          <a:p>
            <a:pPr lvl="1"/>
            <a:r>
              <a:rPr lang="hu-HU" dirty="0" err="1"/>
              <a:t>s.Substring</a:t>
            </a:r>
            <a:r>
              <a:rPr lang="hu-HU" dirty="0"/>
              <a:t>: Adott helytől adott számú karakterből álló szövegrészletet ad vissza.</a:t>
            </a:r>
          </a:p>
          <a:p>
            <a:pPr lvl="1"/>
            <a:r>
              <a:rPr lang="hu-HU" dirty="0" err="1"/>
              <a:t>s.Toupper</a:t>
            </a:r>
            <a:r>
              <a:rPr lang="hu-HU" dirty="0"/>
              <a:t>, </a:t>
            </a:r>
            <a:r>
              <a:rPr lang="hu-HU" dirty="0" err="1"/>
              <a:t>s.ToLower</a:t>
            </a:r>
            <a:r>
              <a:rPr lang="hu-HU" dirty="0"/>
              <a:t>: A szöveg karaktereit nagybetűssé, illetve kisbetűssé alakítja.</a:t>
            </a:r>
          </a:p>
          <a:p>
            <a:r>
              <a:rPr lang="hu-HU" dirty="0"/>
              <a:t>Példák: gyakorlaton</a:t>
            </a:r>
          </a:p>
        </p:txBody>
      </p:sp>
    </p:spTree>
    <p:extLst>
      <p:ext uri="{BB962C8B-B14F-4D97-AF65-F5344CB8AC3E}">
        <p14:creationId xmlns:p14="http://schemas.microsoft.com/office/powerpoint/2010/main" val="83329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KARAKTEREK KEZELÉSE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8259" y="941294"/>
            <a:ext cx="11900647" cy="5789707"/>
          </a:xfrm>
        </p:spPr>
        <p:txBody>
          <a:bodyPr>
            <a:normAutofit lnSpcReduction="10000"/>
          </a:bodyPr>
          <a:lstStyle/>
          <a:p>
            <a:r>
              <a:rPr lang="hu-HU" dirty="0"/>
              <a:t>Általában </a:t>
            </a:r>
            <a:r>
              <a:rPr lang="hu-HU" dirty="0" err="1"/>
              <a:t>string</a:t>
            </a:r>
            <a:r>
              <a:rPr lang="hu-HU" dirty="0"/>
              <a:t> karaktereinek kezelésénél szoktuk használni a megfelelő függvényeket, a </a:t>
            </a:r>
            <a:r>
              <a:rPr lang="hu-HU" dirty="0" err="1"/>
              <a:t>Char</a:t>
            </a:r>
            <a:r>
              <a:rPr lang="hu-HU" dirty="0"/>
              <a:t> osztályban vannak, néhány példa:</a:t>
            </a:r>
          </a:p>
          <a:p>
            <a:pPr lvl="1"/>
            <a:r>
              <a:rPr lang="hu-HU" dirty="0" err="1"/>
              <a:t>Char.ToLower</a:t>
            </a:r>
            <a:r>
              <a:rPr lang="hu-HU" dirty="0"/>
              <a:t>, </a:t>
            </a:r>
            <a:r>
              <a:rPr lang="hu-HU" dirty="0" err="1"/>
              <a:t>Char.ToUpper</a:t>
            </a:r>
            <a:r>
              <a:rPr lang="hu-HU" dirty="0"/>
              <a:t>: Kisbetűssé, nagybetűssé alakít</a:t>
            </a:r>
          </a:p>
          <a:p>
            <a:pPr lvl="1"/>
            <a:r>
              <a:rPr lang="hu-HU" dirty="0" err="1"/>
              <a:t>Char.IsLower</a:t>
            </a:r>
            <a:r>
              <a:rPr lang="hu-HU" dirty="0"/>
              <a:t>, </a:t>
            </a:r>
            <a:r>
              <a:rPr lang="hu-HU" dirty="0" err="1"/>
              <a:t>Char.IsUpper</a:t>
            </a:r>
            <a:r>
              <a:rPr lang="hu-HU" dirty="0"/>
              <a:t>: Megvizsgálja, hogy az adott karakter ABC kisbetű, vagy nagybetű.</a:t>
            </a:r>
          </a:p>
          <a:p>
            <a:pPr lvl="1"/>
            <a:r>
              <a:rPr lang="hu-HU" dirty="0" err="1"/>
              <a:t>Char.IsDigit</a:t>
            </a:r>
            <a:r>
              <a:rPr lang="hu-HU" dirty="0"/>
              <a:t>: A karakter számjegy-e?</a:t>
            </a:r>
          </a:p>
          <a:p>
            <a:pPr lvl="1"/>
            <a:r>
              <a:rPr lang="hu-HU" dirty="0" err="1"/>
              <a:t>Char.IsLetter:A</a:t>
            </a:r>
            <a:r>
              <a:rPr lang="hu-HU" dirty="0"/>
              <a:t> karakter ABC betű-e?</a:t>
            </a:r>
          </a:p>
          <a:p>
            <a:pPr lvl="1"/>
            <a:r>
              <a:rPr lang="hu-HU" dirty="0" err="1"/>
              <a:t>Char.IsLetterOrDigit</a:t>
            </a:r>
            <a:r>
              <a:rPr lang="hu-HU" dirty="0"/>
              <a:t>: A karakter ABC betű vagy számjegy-e?</a:t>
            </a:r>
          </a:p>
          <a:p>
            <a:r>
              <a:rPr lang="hu-HU" dirty="0"/>
              <a:t>Konkrét példák: gyakorlaton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891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1"/>
            <a:ext cx="10131425" cy="1035424"/>
          </a:xfrm>
        </p:spPr>
        <p:txBody>
          <a:bodyPr/>
          <a:lstStyle/>
          <a:p>
            <a:r>
              <a:rPr lang="hu-HU" dirty="0"/>
              <a:t>STRINGEK KEZELÉSE	 a c# nyelvben	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8259" y="941294"/>
            <a:ext cx="11900647" cy="5789707"/>
          </a:xfrm>
        </p:spPr>
        <p:txBody>
          <a:bodyPr>
            <a:normAutofit/>
          </a:bodyPr>
          <a:lstStyle/>
          <a:p>
            <a:r>
              <a:rPr lang="hu-HU" dirty="0" err="1"/>
              <a:t>StringBuilder</a:t>
            </a:r>
            <a:r>
              <a:rPr lang="hu-HU" dirty="0"/>
              <a:t>: egy olyan </a:t>
            </a:r>
            <a:r>
              <a:rPr lang="hu-HU" dirty="0" err="1"/>
              <a:t>string</a:t>
            </a:r>
            <a:r>
              <a:rPr lang="hu-HU" dirty="0"/>
              <a:t> típus, amelyet akkor érdemes használni, ha pl. egy </a:t>
            </a:r>
            <a:r>
              <a:rPr lang="hu-HU" dirty="0" err="1"/>
              <a:t>string-et</a:t>
            </a:r>
            <a:r>
              <a:rPr lang="hu-HU" dirty="0"/>
              <a:t> folyamatosan szeretnénk bővíteni. Memóriahasználat szempontjából előnyösebb, mint a </a:t>
            </a:r>
            <a:r>
              <a:rPr lang="hu-HU" dirty="0" err="1"/>
              <a:t>string</a:t>
            </a:r>
            <a:r>
              <a:rPr lang="hu-HU" dirty="0"/>
              <a:t>.</a:t>
            </a:r>
          </a:p>
          <a:p>
            <a:r>
              <a:rPr lang="hu-HU" dirty="0"/>
              <a:t>Pl.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StringBuilder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s=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StringBuilder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hu-HU" dirty="0"/>
              <a:t>Ekkor a hozzáfűzés: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s.Append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(”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marL="363538" lvl="1"/>
            <a:r>
              <a:rPr lang="hu-HU" i="1" dirty="0"/>
              <a:t>Kiegészítés: Ezzel lehet módosítani a </a:t>
            </a:r>
            <a:r>
              <a:rPr lang="hu-HU" i="1" dirty="0" err="1"/>
              <a:t>string</a:t>
            </a:r>
            <a:r>
              <a:rPr lang="hu-HU" i="1" dirty="0"/>
              <a:t> adott karakterét is, a </a:t>
            </a:r>
            <a:r>
              <a:rPr lang="hu-HU" i="1" dirty="0" err="1"/>
              <a:t>string</a:t>
            </a:r>
            <a:r>
              <a:rPr lang="hu-HU" i="1" dirty="0"/>
              <a:t> típussal ezt nem lehet.</a:t>
            </a:r>
          </a:p>
        </p:txBody>
      </p:sp>
    </p:spTree>
    <p:extLst>
      <p:ext uri="{BB962C8B-B14F-4D97-AF65-F5344CB8AC3E}">
        <p14:creationId xmlns:p14="http://schemas.microsoft.com/office/powerpoint/2010/main" val="118077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781424"/>
          </a:xfrm>
        </p:spPr>
        <p:txBody>
          <a:bodyPr/>
          <a:lstStyle/>
          <a:p>
            <a:r>
              <a:rPr lang="hu-HU" dirty="0"/>
              <a:t>PÉLDA egy </a:t>
            </a:r>
            <a:r>
              <a:rPr lang="hu-HU" dirty="0" err="1"/>
              <a:t>string-es</a:t>
            </a:r>
            <a:r>
              <a:rPr lang="hu-HU" dirty="0"/>
              <a:t> feladatra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35425"/>
            <a:ext cx="10131425" cy="5695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Személyi szám:</a:t>
            </a:r>
          </a:p>
          <a:p>
            <a:pPr lvl="1"/>
            <a:r>
              <a:rPr lang="hu-HU" dirty="0"/>
              <a:t>Az első számjegy 1 és 4 között lehet:</a:t>
            </a:r>
          </a:p>
          <a:p>
            <a:pPr lvl="2"/>
            <a:r>
              <a:rPr lang="hu-HU" dirty="0"/>
              <a:t>1: 1999. XII.31 előtt született férfi</a:t>
            </a:r>
          </a:p>
          <a:p>
            <a:pPr lvl="2"/>
            <a:r>
              <a:rPr lang="hu-HU" dirty="0"/>
              <a:t>2: 1999. XII.31 előtt született nő</a:t>
            </a:r>
          </a:p>
          <a:p>
            <a:pPr lvl="2"/>
            <a:r>
              <a:rPr lang="hu-HU" dirty="0"/>
              <a:t>3: 1999. XII.31 után született férfi</a:t>
            </a:r>
          </a:p>
          <a:p>
            <a:pPr lvl="2"/>
            <a:r>
              <a:rPr lang="hu-HU" dirty="0"/>
              <a:t>4: 1999. XII.31 után született nő</a:t>
            </a:r>
          </a:p>
          <a:p>
            <a:pPr lvl="1"/>
            <a:r>
              <a:rPr lang="hu-HU" dirty="0"/>
              <a:t>3-7. számjegy: Születési év utolsó két számjegye és születési hónap, nap</a:t>
            </a:r>
          </a:p>
          <a:p>
            <a:pPr lvl="1"/>
            <a:r>
              <a:rPr lang="hu-HU" dirty="0"/>
              <a:t>8-10. számjegy: A születési sorszám</a:t>
            </a:r>
          </a:p>
          <a:p>
            <a:pPr lvl="1"/>
            <a:r>
              <a:rPr lang="hu-HU" dirty="0"/>
              <a:t>11. számjegy: Ellenőrző szám:</a:t>
            </a:r>
          </a:p>
          <a:p>
            <a:pPr marL="457200" lvl="1" indent="0">
              <a:buNone/>
            </a:pPr>
            <a:r>
              <a:rPr lang="hu-HU" dirty="0"/>
              <a:t>		(1. jegy)*1+(2.jegy)*2+…+(10. jegy)*10</a:t>
            </a:r>
          </a:p>
        </p:txBody>
      </p:sp>
    </p:spTree>
    <p:extLst>
      <p:ext uri="{BB962C8B-B14F-4D97-AF65-F5344CB8AC3E}">
        <p14:creationId xmlns:p14="http://schemas.microsoft.com/office/powerpoint/2010/main" val="359256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228601"/>
            <a:ext cx="11896165" cy="6502400"/>
          </a:xfrm>
        </p:spPr>
        <p:txBody>
          <a:bodyPr>
            <a:normAutofit lnSpcReduction="10000"/>
          </a:bodyPr>
          <a:lstStyle/>
          <a:p>
            <a:r>
              <a:rPr lang="hu-HU" sz="3200" b="1" u="sng" dirty="0"/>
              <a:t>Egy személyazonosító szám beolvasása: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személyi;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személyi =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hu-HU" sz="3000" dirty="0"/>
          </a:p>
          <a:p>
            <a:r>
              <a:rPr lang="hu-HU" sz="3200" b="1" u="sng" dirty="0"/>
              <a:t>A nem meghatározása: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(személyi[0] == '1' || személyi[0] == '3')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("Férfi");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("Nő");</a:t>
            </a:r>
          </a:p>
          <a:p>
            <a:r>
              <a:rPr lang="hu-HU" sz="3300" b="1" dirty="0"/>
              <a:t> </a:t>
            </a:r>
            <a:r>
              <a:rPr lang="hu-HU" sz="3200" b="1" u="sng" dirty="0"/>
              <a:t>A születési sorszám meghatározása: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születési_sorszám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személyi.Substring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(7, 3);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(”A szül. sorszám:{0}”,születési_sorszám);</a:t>
            </a:r>
            <a:endParaRPr lang="hu-HU" sz="3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04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228601"/>
            <a:ext cx="11896165" cy="6502400"/>
          </a:xfrm>
        </p:spPr>
        <p:txBody>
          <a:bodyPr>
            <a:normAutofit/>
          </a:bodyPr>
          <a:lstStyle/>
          <a:p>
            <a:r>
              <a:rPr lang="hu-HU" sz="3200" b="1" u="sng" dirty="0"/>
              <a:t>Annak meghatározása, hogy </a:t>
            </a:r>
            <a:r>
              <a:rPr lang="hu-HU" sz="3200" b="1" u="sng" dirty="0" err="1"/>
              <a:t>hanyadik</a:t>
            </a:r>
            <a:r>
              <a:rPr lang="hu-HU" sz="3200" b="1" u="sng" dirty="0"/>
              <a:t> születésnapját ünnepli: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születési_év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személyi.Substring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(1, 2);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mostani_év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DateTime.Now.Year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születésnap;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(személyi[0] == '1' || személyi[0] == '2')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születési_év = "19" + születési_év;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születési_év = "20" + születési_év;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születésnap = mostani_év -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(születési_év);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("A személy a {0}. születésnapját ünnepli.", születésnap);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80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228601"/>
            <a:ext cx="11896165" cy="6502400"/>
          </a:xfrm>
        </p:spPr>
        <p:txBody>
          <a:bodyPr>
            <a:normAutofit lnSpcReduction="10000"/>
          </a:bodyPr>
          <a:lstStyle/>
          <a:p>
            <a:r>
              <a:rPr lang="hu-HU" sz="3200" b="1" u="sng" dirty="0"/>
              <a:t>A 2. személyi szám beolvasása: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személyi2;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személyi2 =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u="sng" dirty="0">
                <a:cs typeface="Courier New" panose="02070309020205020404" pitchFamily="49" charset="0"/>
              </a:rPr>
              <a:t>A születési évek különbségének meghatározása: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születési_év2 = személyi2.Substring(1, 2);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(személyi2[0] == ’1' || személyi2[0] == ’2')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születési_év2 = "19" + születési_év2;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születési_év2 = "20" + születési_év2;        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(születési_év2)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-int.Parse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(születési_év));</a:t>
            </a:r>
          </a:p>
        </p:txBody>
      </p:sp>
    </p:spTree>
    <p:extLst>
      <p:ext uri="{BB962C8B-B14F-4D97-AF65-F5344CB8AC3E}">
        <p14:creationId xmlns:p14="http://schemas.microsoft.com/office/powerpoint/2010/main" val="2888655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228601"/>
            <a:ext cx="11896165" cy="6502400"/>
          </a:xfrm>
        </p:spPr>
        <p:txBody>
          <a:bodyPr>
            <a:normAutofit fontScale="92500" lnSpcReduction="10000"/>
          </a:bodyPr>
          <a:lstStyle/>
          <a:p>
            <a:r>
              <a:rPr lang="hu-HU" sz="3500" b="1" u="sng" dirty="0"/>
              <a:t>Az ellenőrző összeg meghatározása: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int összeg = 0;</a:t>
            </a:r>
          </a:p>
          <a:p>
            <a:pPr marL="0" indent="0">
              <a:buNone/>
            </a:pPr>
            <a:r>
              <a:rPr lang="nn-NO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i = 0; i &lt;10; i++)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összeg += (személyi2[i]-'0')*(i+1);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összeg%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=11;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(összeg != 10)</a:t>
            </a: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("A teljes személyi szám: {0} ", személyi2 +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összeg.ToString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("A megadott születési sorszám hibás!");</a:t>
            </a:r>
            <a:endParaRPr lang="hu-H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746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36177" y="254001"/>
            <a:ext cx="10481050" cy="714188"/>
          </a:xfrm>
        </p:spPr>
        <p:txBody>
          <a:bodyPr>
            <a:normAutofit fontScale="90000"/>
          </a:bodyPr>
          <a:lstStyle/>
          <a:p>
            <a:r>
              <a:rPr lang="hu-HU" dirty="0"/>
              <a:t>REGULÁRIS KIFEJEZÉS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4471" y="820271"/>
            <a:ext cx="11766176" cy="5910729"/>
          </a:xfrm>
        </p:spPr>
        <p:txBody>
          <a:bodyPr>
            <a:normAutofit fontScale="85000" lnSpcReduction="10000"/>
          </a:bodyPr>
          <a:lstStyle/>
          <a:p>
            <a:r>
              <a:rPr lang="hu-HU" dirty="0"/>
              <a:t>Egy </a:t>
            </a:r>
            <a:r>
              <a:rPr lang="hu-HU" dirty="0" err="1"/>
              <a:t>string-re</a:t>
            </a:r>
            <a:r>
              <a:rPr lang="hu-HU" dirty="0"/>
              <a:t> mintaillesztést végzünk egy adott mintaszöveg alapján.</a:t>
            </a:r>
          </a:p>
          <a:p>
            <a:r>
              <a:rPr lang="hu-HU" dirty="0"/>
              <a:t>Használat: Ha adott formátumú adatokat szeretnénk beolvasni, pl. telefonszám, irányítószám.</a:t>
            </a:r>
          </a:p>
          <a:p>
            <a:r>
              <a:rPr lang="hu-HU" dirty="0"/>
              <a:t>Egyéb használat később </a:t>
            </a:r>
            <a:r>
              <a:rPr lang="hu-HU" dirty="0" err="1"/>
              <a:t>Access-ben</a:t>
            </a:r>
            <a:r>
              <a:rPr lang="hu-HU" dirty="0"/>
              <a:t> a beviteli maszkban.</a:t>
            </a:r>
          </a:p>
          <a:p>
            <a:r>
              <a:rPr lang="hu-HU" dirty="0"/>
              <a:t>Deklarálás:</a:t>
            </a:r>
          </a:p>
          <a:p>
            <a:pPr lvl="1"/>
            <a:r>
              <a:rPr lang="hu-HU" sz="3300" dirty="0"/>
              <a:t>a forráskód elejére a</a:t>
            </a:r>
            <a:br>
              <a:rPr lang="hu-HU" sz="3300" dirty="0"/>
            </a:br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System.Text.RegularExpressions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sz="3300" dirty="0"/>
              <a:t> utasítást írjuk be </a:t>
            </a:r>
          </a:p>
          <a:p>
            <a:pPr lvl="1"/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 s=@”Reguláris kifejezés”;</a:t>
            </a:r>
          </a:p>
          <a:p>
            <a:pPr lvl="1"/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 név=</a:t>
            </a:r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</a:t>
            </a:r>
            <a:r>
              <a:rPr lang="hu-HU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r>
              <a:rPr lang="hu-HU" dirty="0"/>
              <a:t>Mintaillesztés:</a:t>
            </a:r>
          </a:p>
          <a:p>
            <a:pPr marL="457200" lvl="1" indent="0">
              <a:buNone/>
            </a:pPr>
            <a:r>
              <a:rPr lang="hu-HU" b="1" dirty="0" err="1"/>
              <a:t>név.IsMatch</a:t>
            </a:r>
            <a:r>
              <a:rPr lang="hu-HU" b="1" dirty="0"/>
              <a:t>(szöveg)</a:t>
            </a:r>
            <a:r>
              <a:rPr lang="hu-HU" dirty="0"/>
              <a:t>: A ”név” nevű reguláris kifejezésre illeszkedik-e a ”szöveg”</a:t>
            </a:r>
          </a:p>
        </p:txBody>
      </p:sp>
    </p:spTree>
    <p:extLst>
      <p:ext uri="{BB962C8B-B14F-4D97-AF65-F5344CB8AC3E}">
        <p14:creationId xmlns:p14="http://schemas.microsoft.com/office/powerpoint/2010/main" val="382832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Példa reguláris kifejezésre: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 = @"^(\+)[1-9][0-9]{1,2}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\s[1-9][0-9]{1,2}\s(\d{3}(-)){2}\d{3}$";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s1 = "+36 30 661-345";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s2 = "+3630 661-567-233";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s3 = "+56 30 555-4657";</a:t>
            </a: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pattern.IsMatch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(s1)); //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pattern.IsMatch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(s2)); //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pattern.IsMatch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(s3)); // 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hu-HU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6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Példa reguláris kifejezésre: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 = @"^(\+)[1-9][0-9]{1,2}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\s[1-9][0-9]{1,2}\s(\d{3}(-)){2}\d{3}$";</a:t>
            </a:r>
          </a:p>
          <a:p>
            <a:pPr marL="0" indent="0">
              <a:buNone/>
            </a:pPr>
            <a:r>
              <a:rPr lang="hu-HU" sz="3200" b="1" u="sng" dirty="0">
                <a:cs typeface="Courier New" panose="02070309020205020404" pitchFamily="49" charset="0"/>
              </a:rPr>
              <a:t>Magyarázat: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 @ kötelező az elejére.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 ^ jelzi, hogy az elejétől kezdjük az illesztést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 (\+) azt mondja meg, hogy +</a:t>
            </a:r>
            <a:r>
              <a:rPr lang="hu-HU" sz="3200" dirty="0" err="1">
                <a:cs typeface="Courier New" panose="02070309020205020404" pitchFamily="49" charset="0"/>
              </a:rPr>
              <a:t>-al</a:t>
            </a:r>
            <a:r>
              <a:rPr lang="hu-HU" sz="3200" dirty="0">
                <a:cs typeface="Courier New" panose="02070309020205020404" pitchFamily="49" charset="0"/>
              </a:rPr>
              <a:t> kezdődik. (A \ jelet ki kell tenni)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[1-9]: 1 és 9 között lehetnek a számjegyek.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[0-9]{1,2}: Az 0 és 9 közötti számjegyek legalább egyszer, legfeljebb kétszer szerepelnek</a:t>
            </a:r>
          </a:p>
        </p:txBody>
      </p:sp>
    </p:spTree>
    <p:extLst>
      <p:ext uri="{BB962C8B-B14F-4D97-AF65-F5344CB8AC3E}">
        <p14:creationId xmlns:p14="http://schemas.microsoft.com/office/powerpoint/2010/main" val="3672021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Példa reguláris kifejezésre: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 = @"^(\+)[1-9][0-9]{1,2}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\s[1-9][0-9]{1,2}\s(\d{3}(-)){1,2}\d{3,4}$";</a:t>
            </a:r>
          </a:p>
          <a:p>
            <a:pPr marL="0" indent="0">
              <a:buNone/>
            </a:pPr>
            <a:r>
              <a:rPr lang="hu-HU" sz="3200" b="1" u="sng" dirty="0">
                <a:cs typeface="Courier New" panose="02070309020205020404" pitchFamily="49" charset="0"/>
              </a:rPr>
              <a:t>Magyarázat: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\s szóköz</a:t>
            </a:r>
            <a:endParaRPr lang="hu-HU" sz="3200" dirty="0"/>
          </a:p>
          <a:p>
            <a:r>
              <a:rPr lang="hu-HU" sz="3200" dirty="0"/>
              <a:t>(\d{3}(-)){1,2}: pontosan 3 számjegy (\d), majd kötőjel (-), ezt egyszer vagy kétszer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\d{3,4}: 3 vagy 4 számjegy ez pontosan egyszer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 $ jel azt jelenti, hogy az elejétől a végéig vizsgáljuk a szöveget.</a:t>
            </a:r>
          </a:p>
        </p:txBody>
      </p:sp>
    </p:spTree>
    <p:extLst>
      <p:ext uri="{BB962C8B-B14F-4D97-AF65-F5344CB8AC3E}">
        <p14:creationId xmlns:p14="http://schemas.microsoft.com/office/powerpoint/2010/main" val="543068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További példa reguláris kifejezésre (</a:t>
            </a:r>
            <a:r>
              <a:rPr lang="hu-HU" sz="3500" b="1" u="sng" dirty="0" err="1"/>
              <a:t>Ip</a:t>
            </a:r>
            <a:r>
              <a:rPr lang="hu-HU" sz="3500" b="1" u="sng" dirty="0"/>
              <a:t> címek formátuma)</a:t>
            </a:r>
          </a:p>
          <a:p>
            <a:pPr marL="0" indent="0">
              <a:buNone/>
            </a:pPr>
            <a:r>
              <a:rPr lang="hu-HU" sz="3500" b="1" u="sng" dirty="0"/>
              <a:t>lásd a weboldalamon:</a:t>
            </a:r>
          </a:p>
          <a:p>
            <a:pPr marL="0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Reguláris kifejezés példa IP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címek.cs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hu-HU" sz="4800" b="1" dirty="0"/>
          </a:p>
          <a:p>
            <a:pPr marL="0" indent="0" algn="ctr">
              <a:buNone/>
            </a:pPr>
            <a:r>
              <a:rPr lang="hu-HU" sz="4800" b="1" dirty="0"/>
              <a:t>Miklospeter.wordpress.com</a:t>
            </a:r>
          </a:p>
        </p:txBody>
      </p:sp>
    </p:spTree>
    <p:extLst>
      <p:ext uri="{BB962C8B-B14F-4D97-AF65-F5344CB8AC3E}">
        <p14:creationId xmlns:p14="http://schemas.microsoft.com/office/powerpoint/2010/main" val="1655370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Kiegészítések</a:t>
            </a:r>
          </a:p>
          <a:p>
            <a:r>
              <a:rPr lang="hu-HU" sz="3500" dirty="0"/>
              <a:t>A 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hu-HU" sz="3500" dirty="0"/>
              <a:t> függvény felosztja a szöveget az adott karakterrel elválasztva több kis szövegrészre. </a:t>
            </a:r>
            <a:r>
              <a:rPr lang="hu-HU" sz="3500" dirty="0" err="1"/>
              <a:t>Pl</a:t>
            </a:r>
            <a:r>
              <a:rPr lang="hu-HU" sz="3500" dirty="0"/>
              <a:t>:</a:t>
            </a:r>
            <a:br>
              <a:rPr lang="hu-HU" sz="3500" dirty="0"/>
            </a:b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[] s=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szöveg.Split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(’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karakter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’); </a:t>
            </a:r>
            <a:endParaRPr lang="hu-HU" sz="3500" dirty="0"/>
          </a:p>
          <a:p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hu-HU" sz="3500" dirty="0"/>
              <a:t>: implicit típus, nem adjuk meg külön a típust, hanem a fordító dönti el. Pl. 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var x=3</a:t>
            </a:r>
            <a:r>
              <a:rPr lang="hu-HU" sz="3500" dirty="0"/>
              <a:t>;</a:t>
            </a:r>
          </a:p>
          <a:p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hu-HU" sz="3500" dirty="0"/>
              <a:t>: konstans deklarálása, az értékét csak egyszer lehet megadni. Pl.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szöveg=”példa”;</a:t>
            </a:r>
          </a:p>
          <a:p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hu-HU" sz="3500" dirty="0"/>
              <a:t>: Egy soros megjegyzést lehet tenni.</a:t>
            </a:r>
          </a:p>
          <a:p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hu-HU" sz="3500" dirty="0"/>
              <a:t>: egy olyan érték, amely azt mutatja, hogy az adott objektum nem hivatkozik semmire. (nincs értéke)</a:t>
            </a:r>
          </a:p>
        </p:txBody>
      </p:sp>
    </p:spTree>
    <p:extLst>
      <p:ext uri="{BB962C8B-B14F-4D97-AF65-F5344CB8AC3E}">
        <p14:creationId xmlns:p14="http://schemas.microsoft.com/office/powerpoint/2010/main" val="775018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3500" b="1" u="sng" dirty="0"/>
              <a:t>Kiegészítések</a:t>
            </a:r>
          </a:p>
          <a:p>
            <a:r>
              <a:rPr lang="hu-HU" sz="3500" dirty="0"/>
              <a:t>A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String.Join</a:t>
            </a:r>
            <a:r>
              <a:rPr lang="hu-HU" sz="3500" dirty="0"/>
              <a:t> függvény összefűz több szöveget az adott karakterrel elválasztva egybe. Általános alak:</a:t>
            </a:r>
          </a:p>
          <a:p>
            <a:pPr marL="0" indent="0">
              <a:buNone/>
            </a:pPr>
            <a:r>
              <a:rPr lang="hu-HU" sz="3500" dirty="0"/>
              <a:t>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String.Join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(”Elválasztó karakterek”,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stringtömb</a:t>
            </a: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u-HU" sz="3500" dirty="0" err="1"/>
              <a:t>Pl</a:t>
            </a:r>
            <a:r>
              <a:rPr lang="hu-HU" sz="3500" dirty="0"/>
              <a:t>:</a:t>
            </a:r>
            <a:br>
              <a:rPr lang="hu-HU" sz="3500" dirty="0"/>
            </a:b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={”192”,”168”,”1”,”2”};</a:t>
            </a:r>
            <a:b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s=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String.Join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(”.”,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hu-HU" sz="3500" dirty="0"/>
          </a:p>
          <a:p>
            <a:r>
              <a:rPr lang="hu-HU" sz="3500" dirty="0" err="1">
                <a:cs typeface="Times New Roman" panose="02020603050405020304" pitchFamily="18" charset="0"/>
              </a:rPr>
              <a:t>String</a:t>
            </a:r>
            <a:r>
              <a:rPr lang="hu-HU" sz="3500" dirty="0">
                <a:cs typeface="Times New Roman" panose="02020603050405020304" pitchFamily="18" charset="0"/>
              </a:rPr>
              <a:t> megadása egy karakter többszörözésével:</a:t>
            </a:r>
          </a:p>
          <a:p>
            <a:pPr marL="0" indent="0">
              <a:buNone/>
            </a:pPr>
            <a:r>
              <a:rPr lang="hu-HU" sz="3500" dirty="0">
                <a:cs typeface="Times New Roman" panose="02020603050405020304" pitchFamily="18" charset="0"/>
              </a:rPr>
              <a:t>	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s=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(’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karakter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’,darabszám);</a:t>
            </a:r>
          </a:p>
          <a:p>
            <a:pPr marL="0" indent="0">
              <a:buNone/>
            </a:pPr>
            <a:r>
              <a:rPr lang="hu-HU" sz="3500" dirty="0">
                <a:cs typeface="Times New Roman" panose="02020603050405020304" pitchFamily="18" charset="0"/>
              </a:rPr>
              <a:t>	Pl.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s=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(’*’,5);</a:t>
            </a:r>
          </a:p>
          <a:p>
            <a:r>
              <a:rPr lang="hu-HU" sz="3500" dirty="0">
                <a:cs typeface="Times New Roman" panose="02020603050405020304" pitchFamily="18" charset="0"/>
              </a:rPr>
              <a:t>Ez a példa 5 darab *</a:t>
            </a:r>
            <a:r>
              <a:rPr lang="hu-HU" sz="3500" dirty="0" err="1">
                <a:cs typeface="Times New Roman" panose="02020603050405020304" pitchFamily="18" charset="0"/>
              </a:rPr>
              <a:t>-ot</a:t>
            </a:r>
            <a:r>
              <a:rPr lang="hu-HU" sz="3500" dirty="0">
                <a:cs typeface="Times New Roman" panose="02020603050405020304" pitchFamily="18" charset="0"/>
              </a:rPr>
              <a:t> tesz bele a </a:t>
            </a:r>
            <a:r>
              <a:rPr lang="hu-HU" sz="3500" dirty="0" err="1">
                <a:cs typeface="Times New Roman" panose="02020603050405020304" pitchFamily="18" charset="0"/>
              </a:rPr>
              <a:t>string-be</a:t>
            </a:r>
            <a:r>
              <a:rPr lang="hu-HU" sz="3500" dirty="0"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5819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5835" y="94129"/>
            <a:ext cx="11896165" cy="6636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500" b="1" u="sng" dirty="0"/>
              <a:t>IP cím besoroló példa megoldása, lásd a weboldalamon:</a:t>
            </a: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IPCímBesoroló.cs</a:t>
            </a:r>
            <a:endParaRPr lang="hu-HU" sz="4800" b="1" dirty="0"/>
          </a:p>
          <a:p>
            <a:pPr marL="0" indent="0" algn="ctr">
              <a:buNone/>
            </a:pPr>
            <a:endParaRPr lang="hu-HU" sz="4800" b="1" dirty="0"/>
          </a:p>
          <a:p>
            <a:pPr marL="0" indent="0" algn="ctr">
              <a:buNone/>
            </a:pPr>
            <a:r>
              <a:rPr lang="hu-HU" sz="4800" b="1" dirty="0"/>
              <a:t>miklospeter.wordpress.com</a:t>
            </a:r>
          </a:p>
        </p:txBody>
      </p:sp>
    </p:spTree>
    <p:extLst>
      <p:ext uri="{BB962C8B-B14F-4D97-AF65-F5344CB8AC3E}">
        <p14:creationId xmlns:p14="http://schemas.microsoft.com/office/powerpoint/2010/main" val="2389069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984</TotalTime>
  <Words>1598</Words>
  <Application>Microsoft Office PowerPoint</Application>
  <PresentationFormat>Szélesvásznú</PresentationFormat>
  <Paragraphs>154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Égi</vt:lpstr>
      <vt:lpstr>STRING KEZELÉS  a c# nyelvben </vt:lpstr>
      <vt:lpstr>STRING KEZELÉS  a c# nyelvben </vt:lpstr>
      <vt:lpstr>STRING KEZELÉS  a c# nyelvben </vt:lpstr>
      <vt:lpstr>STRING KEZELÉS  a c# nyelvben </vt:lpstr>
      <vt:lpstr>KARAKTEREK KEZELÉSE  a c# nyelvben </vt:lpstr>
      <vt:lpstr>STRINGEK KEZELÉSE  a c# nyelvben </vt:lpstr>
      <vt:lpstr>PÉLDA egy string-es feladatra</vt:lpstr>
      <vt:lpstr>PowerPoint-bemutató</vt:lpstr>
      <vt:lpstr>PowerPoint-bemutató</vt:lpstr>
      <vt:lpstr>PowerPoint-bemutató</vt:lpstr>
      <vt:lpstr>PowerPoint-bemutató</vt:lpstr>
      <vt:lpstr>REGULÁRIS KIFEJEZÉS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 Péter</cp:lastModifiedBy>
  <cp:revision>277</cp:revision>
  <dcterms:created xsi:type="dcterms:W3CDTF">2014-11-05T16:55:57Z</dcterms:created>
  <dcterms:modified xsi:type="dcterms:W3CDTF">2020-03-11T08:14:45Z</dcterms:modified>
</cp:coreProperties>
</file>