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0" r:id="rId1"/>
  </p:sldMasterIdLst>
  <p:handoutMasterIdLst>
    <p:handoutMasterId r:id="rId9"/>
  </p:handoutMasterIdLst>
  <p:sldIdLst>
    <p:sldId id="268" r:id="rId2"/>
    <p:sldId id="269" r:id="rId3"/>
    <p:sldId id="270" r:id="rId4"/>
    <p:sldId id="271" r:id="rId5"/>
    <p:sldId id="272" r:id="rId6"/>
    <p:sldId id="273" r:id="rId7"/>
    <p:sldId id="27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21" autoAdjust="0"/>
    <p:restoredTop sz="94660"/>
  </p:normalViewPr>
  <p:slideViewPr>
    <p:cSldViewPr snapToGrid="0">
      <p:cViewPr varScale="1">
        <p:scale>
          <a:sx n="86" d="100"/>
          <a:sy n="86" d="100"/>
        </p:scale>
        <p:origin x="55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2126"/>
    </p:cViewPr>
  </p:sorterViewPr>
  <p:notesViewPr>
    <p:cSldViewPr snapToGrid="0">
      <p:cViewPr varScale="1">
        <p:scale>
          <a:sx n="57" d="100"/>
          <a:sy n="57" d="100"/>
        </p:scale>
        <p:origin x="283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5B60BE-C4F1-405D-B022-EC73AF30A1CB}" type="datetimeFigureOut">
              <a:rPr lang="hu-HU" smtClean="0"/>
              <a:pPr/>
              <a:t>2018. 03. 23.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AC1FD9-8148-4354-8614-90D9F03A1422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215446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Alcím mintájának szerkesztése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3/23/2018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1639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254000"/>
            <a:ext cx="10131425" cy="1456267"/>
          </a:xfrm>
        </p:spPr>
        <p:txBody>
          <a:bodyPr/>
          <a:lstStyle/>
          <a:p>
            <a:r>
              <a:rPr lang="hu-HU" dirty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1710267"/>
            <a:ext cx="10131425" cy="5020733"/>
          </a:xfrm>
        </p:spPr>
        <p:txBody>
          <a:bodyPr anchor="ctr"/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585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3/23/2018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0477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3/23/2018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2301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3/23/2018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2255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3/23/2018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5912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3/23/2018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6977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3/23/2018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5924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3/23/2018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8690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3/23/2018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1095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3/23/2018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4038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3/23/2018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2093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3/23/2018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6247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3/23/2018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964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3/23/2018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2275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3/23/2018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4979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3/23/2018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5687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1270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dirty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1583267"/>
            <a:ext cx="10131425" cy="51350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1915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  <p:sldLayoutId id="2147483775" r:id="rId15"/>
    <p:sldLayoutId id="2147483776" r:id="rId16"/>
    <p:sldLayoutId id="2147483777" r:id="rId17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 bldLvl="2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4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3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3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34472" y="0"/>
            <a:ext cx="10131425" cy="658906"/>
          </a:xfrm>
        </p:spPr>
        <p:txBody>
          <a:bodyPr>
            <a:normAutofit fontScale="90000"/>
          </a:bodyPr>
          <a:lstStyle/>
          <a:p>
            <a:r>
              <a:rPr lang="hu-HU" dirty="0"/>
              <a:t>Feltételek megadása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31819" y="658906"/>
            <a:ext cx="11641933" cy="6199093"/>
          </a:xfrm>
        </p:spPr>
        <p:txBody>
          <a:bodyPr>
            <a:noAutofit/>
          </a:bodyPr>
          <a:lstStyle/>
          <a:p>
            <a:r>
              <a:rPr lang="hu-HU" sz="3200" dirty="0">
                <a:cs typeface="Courier New" panose="02070309020205020404" pitchFamily="49" charset="0"/>
              </a:rPr>
              <a:t>A feltételek megadása a </a:t>
            </a:r>
            <a:r>
              <a:rPr lang="hu-HU" sz="3200" dirty="0" err="1">
                <a:cs typeface="Courier New" panose="02070309020205020404" pitchFamily="49" charset="0"/>
              </a:rPr>
              <a:t>Where</a:t>
            </a:r>
            <a:r>
              <a:rPr lang="hu-HU" sz="3200" dirty="0">
                <a:cs typeface="Courier New" panose="02070309020205020404" pitchFamily="49" charset="0"/>
              </a:rPr>
              <a:t> záradékkal lehetséges. Ezzel leszűkíthetjük az adatbázisból a kapott eredmény sorainak számát.</a:t>
            </a:r>
          </a:p>
          <a:p>
            <a:r>
              <a:rPr lang="hu-HU" sz="3200" b="1" u="sng" dirty="0">
                <a:cs typeface="Courier New" panose="02070309020205020404" pitchFamily="49" charset="0"/>
              </a:rPr>
              <a:t>Használata:</a:t>
            </a:r>
          </a:p>
          <a:p>
            <a:pPr marL="712788" indent="0"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var új=</a:t>
            </a: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eredeti.Where</a:t>
            </a:r>
            <a:b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marL="712788" indent="0"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	név=&gt; feltétel</a:t>
            </a:r>
            <a:b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457200" indent="-457200"/>
            <a:r>
              <a:rPr lang="hu-HU" sz="3200" b="1" u="sng" dirty="0">
                <a:cs typeface="Courier New" panose="02070309020205020404" pitchFamily="49" charset="0"/>
              </a:rPr>
              <a:t>Megjegyzések:</a:t>
            </a:r>
            <a:endParaRPr lang="hu-HU" sz="3200" b="1" dirty="0">
              <a:cs typeface="Courier New" panose="02070309020205020404" pitchFamily="49" charset="0"/>
            </a:endParaRPr>
          </a:p>
          <a:p>
            <a:pPr marL="914400" lvl="1" indent="-457200"/>
            <a:r>
              <a:rPr lang="hu-HU" sz="2800" dirty="0">
                <a:cs typeface="Courier New" panose="02070309020205020404" pitchFamily="49" charset="0"/>
              </a:rPr>
              <a:t>A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hu-HU" sz="2800" dirty="0">
                <a:cs typeface="Courier New" panose="02070309020205020404" pitchFamily="49" charset="0"/>
              </a:rPr>
              <a:t> és a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hu-HU" sz="2800" dirty="0">
                <a:cs typeface="Courier New" panose="02070309020205020404" pitchFamily="49" charset="0"/>
              </a:rPr>
              <a:t> használható egyszerre is, egymás után.</a:t>
            </a:r>
            <a:br>
              <a:rPr lang="hu-HU" sz="2800" dirty="0">
                <a:cs typeface="Courier New" panose="02070309020205020404" pitchFamily="49" charset="0"/>
              </a:rPr>
            </a:br>
            <a:r>
              <a:rPr lang="hu-HU" sz="2800" dirty="0">
                <a:cs typeface="Courier New" panose="02070309020205020404" pitchFamily="49" charset="0"/>
              </a:rPr>
              <a:t>(lásd későbbi példa)</a:t>
            </a:r>
          </a:p>
          <a:p>
            <a:pPr marL="914400" lvl="1" indent="-457200"/>
            <a:r>
              <a:rPr lang="hu-HU" sz="2800" dirty="0">
                <a:cs typeface="Courier New" panose="02070309020205020404" pitchFamily="49" charset="0"/>
              </a:rPr>
              <a:t>Lehet megadni összetett feltételt, akár több mezőre is egyszerre.</a:t>
            </a:r>
          </a:p>
          <a:p>
            <a:endParaRPr lang="hu-HU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33600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34472" y="0"/>
            <a:ext cx="10131425" cy="658906"/>
          </a:xfrm>
        </p:spPr>
        <p:txBody>
          <a:bodyPr>
            <a:normAutofit fontScale="90000"/>
          </a:bodyPr>
          <a:lstStyle/>
          <a:p>
            <a:r>
              <a:rPr lang="hu-HU" dirty="0"/>
              <a:t>Egyszerű példák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31819" y="1068946"/>
            <a:ext cx="11641933" cy="5789053"/>
          </a:xfrm>
        </p:spPr>
        <p:txBody>
          <a:bodyPr>
            <a:noAutofit/>
          </a:bodyPr>
          <a:lstStyle/>
          <a:p>
            <a:r>
              <a:rPr lang="hu-HU" sz="2800" dirty="0">
                <a:cs typeface="Courier New" panose="02070309020205020404" pitchFamily="49" charset="0"/>
              </a:rPr>
              <a:t>Határozzuk meg a középfokú nyelvvizsgára jelentkezettek adatait: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var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kozep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adatok.Where</a:t>
            </a:r>
            <a:endParaRPr lang="hu-HU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(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x =&gt;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x.szint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== ”közép”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);</a:t>
            </a:r>
          </a:p>
          <a:p>
            <a:r>
              <a:rPr lang="hu-HU" sz="2800" dirty="0">
                <a:cs typeface="Courier New" panose="02070309020205020404" pitchFamily="49" charset="0"/>
              </a:rPr>
              <a:t>Határozzuk meg a Debrecenben vizsgázók adatait, akik 1980 előtt születtek:</a:t>
            </a:r>
          </a:p>
          <a:p>
            <a:pPr marL="0" indent="0">
              <a:buNone/>
            </a:pPr>
            <a:r>
              <a:rPr lang="hu-HU" sz="2800" dirty="0"/>
              <a:t> 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var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deb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adatok.Where</a:t>
            </a:r>
            <a:endParaRPr lang="hu-HU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(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x =&gt;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x.vizsgahely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== "Debrecen" &amp;&amp;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x.szul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&lt; 1980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);</a:t>
            </a:r>
          </a:p>
          <a:p>
            <a:pPr marL="0" indent="0">
              <a:buNone/>
            </a:pPr>
            <a:endParaRPr lang="hu-HU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86128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34472" y="0"/>
            <a:ext cx="10131425" cy="658906"/>
          </a:xfrm>
        </p:spPr>
        <p:txBody>
          <a:bodyPr>
            <a:normAutofit fontScale="90000"/>
          </a:bodyPr>
          <a:lstStyle/>
          <a:p>
            <a:r>
              <a:rPr lang="hu-HU" dirty="0"/>
              <a:t>Összetett példa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31819" y="1068946"/>
            <a:ext cx="11641933" cy="5789053"/>
          </a:xfrm>
        </p:spPr>
        <p:txBody>
          <a:bodyPr>
            <a:noAutofit/>
          </a:bodyPr>
          <a:lstStyle/>
          <a:p>
            <a:r>
              <a:rPr lang="hu-HU" sz="2800" dirty="0">
                <a:cs typeface="Courier New" panose="02070309020205020404" pitchFamily="49" charset="0"/>
              </a:rPr>
              <a:t>Határozzuk meg azon alapfokú nyelvvizsgával próbálkozó vizsgázók nevét, vizsgahelyét, és összesen elért százalékát, akik 70%-nál nagyobb eredménnyel rendelkeznek! Az összes elérhető pontszám 110 pont.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var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adatok.Select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(x =&gt;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endParaRPr lang="hu-HU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nev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x.nev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	szint =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x.szint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+ "fok",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	hely =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x.vizsgahely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osszes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= (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x.szobeli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x.irasbeli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)*100/110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ToList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27819782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34472" y="0"/>
            <a:ext cx="10131425" cy="658906"/>
          </a:xfrm>
        </p:spPr>
        <p:txBody>
          <a:bodyPr>
            <a:normAutofit fontScale="90000"/>
          </a:bodyPr>
          <a:lstStyle/>
          <a:p>
            <a:r>
              <a:rPr lang="hu-HU" dirty="0"/>
              <a:t>Összetett példa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31819" y="658906"/>
            <a:ext cx="11641933" cy="619909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var alap =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sel.Where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(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x =&gt;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x.szint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== </a:t>
            </a:r>
            <a:r>
              <a:rPr lang="hu-HU" sz="2800">
                <a:latin typeface="Courier New" panose="02070309020205020404" pitchFamily="49" charset="0"/>
                <a:cs typeface="Courier New" panose="02070309020205020404" pitchFamily="49" charset="0"/>
              </a:rPr>
              <a:t>"alapfok" 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&amp;&amp;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x.osszes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&gt;70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);</a:t>
            </a:r>
          </a:p>
          <a:p>
            <a:pPr marL="0" indent="0">
              <a:buNone/>
            </a:pP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("{0,30}{1,20}{2,10}",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"Név", "Hely", "Összesen");</a:t>
            </a:r>
          </a:p>
          <a:p>
            <a:pPr marL="0" indent="0">
              <a:buNone/>
            </a:pP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foreach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(var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alap)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("{0,30}{1,20}{2,10}",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item.nev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item.hely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item.osszes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item.szint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778743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34472" y="0"/>
            <a:ext cx="10131425" cy="658906"/>
          </a:xfrm>
        </p:spPr>
        <p:txBody>
          <a:bodyPr>
            <a:normAutofit fontScale="90000"/>
          </a:bodyPr>
          <a:lstStyle/>
          <a:p>
            <a:r>
              <a:rPr lang="hu-HU" dirty="0"/>
              <a:t>Rendezés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31819" y="658906"/>
            <a:ext cx="11641933" cy="6199093"/>
          </a:xfrm>
        </p:spPr>
        <p:txBody>
          <a:bodyPr>
            <a:noAutofit/>
          </a:bodyPr>
          <a:lstStyle/>
          <a:p>
            <a:r>
              <a:rPr lang="hu-HU" sz="3200" dirty="0">
                <a:cs typeface="Courier New" panose="02070309020205020404" pitchFamily="49" charset="0"/>
              </a:rPr>
              <a:t>Az elemek rendezése az </a:t>
            </a:r>
            <a:r>
              <a:rPr lang="hu-HU" sz="3200" dirty="0" err="1">
                <a:cs typeface="Courier New" panose="02070309020205020404" pitchFamily="49" charset="0"/>
              </a:rPr>
              <a:t>OrderBy</a:t>
            </a:r>
            <a:r>
              <a:rPr lang="hu-HU" sz="3200" dirty="0">
                <a:cs typeface="Courier New" panose="02070309020205020404" pitchFamily="49" charset="0"/>
              </a:rPr>
              <a:t> záradékokkal lehetséges. </a:t>
            </a:r>
            <a:r>
              <a:rPr lang="hu-HU" sz="3200" b="1" u="sng" dirty="0">
                <a:cs typeface="Courier New" panose="02070309020205020404" pitchFamily="49" charset="0"/>
              </a:rPr>
              <a:t>Használata (növekvő rendezés):</a:t>
            </a:r>
          </a:p>
          <a:p>
            <a:pPr marL="712788" indent="0"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var rendezett=</a:t>
            </a: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eredeti.OrderBy</a:t>
            </a:r>
            <a:b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marL="712788" indent="0"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	név=&gt; </a:t>
            </a: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név.mező</a:t>
            </a:r>
            <a:b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457200" indent="-457200"/>
            <a:r>
              <a:rPr lang="hu-HU" sz="3200" b="1" u="sng" dirty="0">
                <a:cs typeface="Courier New" panose="02070309020205020404" pitchFamily="49" charset="0"/>
              </a:rPr>
              <a:t>Csökkenő rendezés:</a:t>
            </a:r>
            <a:r>
              <a:rPr lang="hu-HU" sz="3200" b="1" dirty="0">
                <a:cs typeface="Courier New" panose="02070309020205020404" pitchFamily="49" charset="0"/>
              </a:rPr>
              <a:t> </a:t>
            </a:r>
            <a:r>
              <a:rPr lang="hu-HU" sz="2800" dirty="0" err="1">
                <a:cs typeface="Courier New" panose="02070309020205020404" pitchFamily="49" charset="0"/>
              </a:rPr>
              <a:t>OrderByDescending</a:t>
            </a:r>
            <a:r>
              <a:rPr lang="hu-HU" sz="2800" dirty="0">
                <a:cs typeface="Courier New" panose="02070309020205020404" pitchFamily="49" charset="0"/>
              </a:rPr>
              <a:t> használatával. Mindent ugyanúgy kell használni, mint az </a:t>
            </a:r>
            <a:r>
              <a:rPr lang="hu-HU" sz="2800" dirty="0" err="1">
                <a:cs typeface="Courier New" panose="02070309020205020404" pitchFamily="49" charset="0"/>
              </a:rPr>
              <a:t>OrderBy</a:t>
            </a:r>
            <a:r>
              <a:rPr lang="hu-HU" sz="2800" dirty="0">
                <a:cs typeface="Courier New" panose="02070309020205020404" pitchFamily="49" charset="0"/>
              </a:rPr>
              <a:t> esetén.</a:t>
            </a:r>
          </a:p>
          <a:p>
            <a:pPr marL="457200" indent="-457200"/>
            <a:r>
              <a:rPr lang="hu-HU" sz="2800" dirty="0">
                <a:cs typeface="Courier New" panose="02070309020205020404" pitchFamily="49" charset="0"/>
              </a:rPr>
              <a:t>Megjegyzés: Ezzel csak egy szempont szerint tudunk rendezni.</a:t>
            </a:r>
          </a:p>
          <a:p>
            <a:endParaRPr lang="hu-HU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88490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34472" y="0"/>
            <a:ext cx="10131425" cy="658906"/>
          </a:xfrm>
        </p:spPr>
        <p:txBody>
          <a:bodyPr>
            <a:normAutofit fontScale="90000"/>
          </a:bodyPr>
          <a:lstStyle/>
          <a:p>
            <a:r>
              <a:rPr lang="hu-HU" dirty="0"/>
              <a:t>Rendezés több szempont szerint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31819" y="658906"/>
            <a:ext cx="11641933" cy="6199093"/>
          </a:xfrm>
        </p:spPr>
        <p:txBody>
          <a:bodyPr>
            <a:noAutofit/>
          </a:bodyPr>
          <a:lstStyle/>
          <a:p>
            <a:r>
              <a:rPr lang="hu-HU" sz="3200" dirty="0">
                <a:cs typeface="Courier New" panose="02070309020205020404" pitchFamily="49" charset="0"/>
              </a:rPr>
              <a:t>Az </a:t>
            </a:r>
            <a:r>
              <a:rPr lang="hu-HU" sz="3200" dirty="0" err="1">
                <a:cs typeface="Courier New" panose="02070309020205020404" pitchFamily="49" charset="0"/>
              </a:rPr>
              <a:t>OrderBy</a:t>
            </a:r>
            <a:r>
              <a:rPr lang="hu-HU" sz="3200" dirty="0">
                <a:cs typeface="Courier New" panose="02070309020205020404" pitchFamily="49" charset="0"/>
              </a:rPr>
              <a:t> záradék után a </a:t>
            </a:r>
            <a:r>
              <a:rPr lang="hu-HU" sz="3200" dirty="0" err="1">
                <a:cs typeface="Courier New" panose="02070309020205020404" pitchFamily="49" charset="0"/>
              </a:rPr>
              <a:t>ThenBy</a:t>
            </a:r>
            <a:r>
              <a:rPr lang="hu-HU" sz="3200" dirty="0">
                <a:cs typeface="Courier New" panose="02070309020205020404" pitchFamily="49" charset="0"/>
              </a:rPr>
              <a:t> záradékot kell használni. </a:t>
            </a:r>
            <a:r>
              <a:rPr lang="hu-HU" sz="3200" b="1" u="sng" dirty="0">
                <a:cs typeface="Courier New" panose="02070309020205020404" pitchFamily="49" charset="0"/>
              </a:rPr>
              <a:t>Használata (növekvő rendezés):</a:t>
            </a:r>
          </a:p>
          <a:p>
            <a:pPr marL="712788" indent="0"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var rendezett=</a:t>
            </a: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eredeti.OrderBy</a:t>
            </a: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(…).</a:t>
            </a: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ThenBy</a:t>
            </a:r>
            <a:endParaRPr lang="hu-HU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712788" indent="0"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marL="712788" indent="0"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név=&gt; </a:t>
            </a: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név.mező</a:t>
            </a:r>
            <a:endParaRPr lang="hu-HU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712788" indent="0"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457200" indent="-457200"/>
            <a:r>
              <a:rPr lang="hu-HU" sz="3200" b="1" u="sng" dirty="0">
                <a:cs typeface="Courier New" panose="02070309020205020404" pitchFamily="49" charset="0"/>
              </a:rPr>
              <a:t>Csökkenő rendezés:</a:t>
            </a:r>
            <a:r>
              <a:rPr lang="hu-HU" sz="3200" b="1" dirty="0">
                <a:cs typeface="Courier New" panose="02070309020205020404" pitchFamily="49" charset="0"/>
              </a:rPr>
              <a:t> </a:t>
            </a:r>
            <a:r>
              <a:rPr lang="hu-HU" sz="2800" dirty="0" err="1">
                <a:cs typeface="Courier New" panose="02070309020205020404" pitchFamily="49" charset="0"/>
              </a:rPr>
              <a:t>ThenByDescending</a:t>
            </a:r>
            <a:r>
              <a:rPr lang="hu-HU" sz="2800" dirty="0">
                <a:cs typeface="Courier New" panose="02070309020205020404" pitchFamily="49" charset="0"/>
              </a:rPr>
              <a:t> használatával. Mindent ugyanúgy kell használni, mint az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ThenBy</a:t>
            </a:r>
            <a:r>
              <a:rPr lang="hu-HU" sz="2800" dirty="0">
                <a:cs typeface="Courier New" panose="02070309020205020404" pitchFamily="49" charset="0"/>
              </a:rPr>
              <a:t> esetén.</a:t>
            </a:r>
            <a:endParaRPr lang="hu-HU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/>
            <a:r>
              <a:rPr lang="hu-HU" sz="2800" dirty="0">
                <a:cs typeface="Courier New" panose="02070309020205020404" pitchFamily="49" charset="0"/>
              </a:rPr>
              <a:t>Megjegyzés:</a:t>
            </a:r>
          </a:p>
          <a:p>
            <a:pPr marL="914400" lvl="1" indent="-457200"/>
            <a:r>
              <a:rPr lang="hu-HU" sz="2400" dirty="0">
                <a:cs typeface="Courier New" panose="02070309020205020404" pitchFamily="49" charset="0"/>
              </a:rPr>
              <a:t>Megfelelő sorrendben kell megadni a szempontokat.</a:t>
            </a:r>
          </a:p>
          <a:p>
            <a:pPr marL="914400" lvl="1" indent="-457200"/>
            <a:r>
              <a:rPr lang="hu-HU" sz="2400" dirty="0">
                <a:cs typeface="Courier New" panose="02070309020205020404" pitchFamily="49" charset="0"/>
              </a:rPr>
              <a:t>A </a:t>
            </a:r>
            <a:r>
              <a:rPr lang="hu-H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ThenBy</a:t>
            </a:r>
            <a:r>
              <a:rPr lang="hu-HU" sz="2400" dirty="0">
                <a:cs typeface="Courier New" panose="02070309020205020404" pitchFamily="49" charset="0"/>
              </a:rPr>
              <a:t> után lehet folytatni további </a:t>
            </a:r>
            <a:r>
              <a:rPr lang="hu-H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ThenBy</a:t>
            </a:r>
            <a:r>
              <a:rPr lang="hu-HU" sz="2400" dirty="0">
                <a:cs typeface="Courier New" panose="02070309020205020404" pitchFamily="49" charset="0"/>
              </a:rPr>
              <a:t> rendezésekkel.</a:t>
            </a:r>
          </a:p>
        </p:txBody>
      </p:sp>
    </p:spTree>
    <p:extLst>
      <p:ext uri="{BB962C8B-B14F-4D97-AF65-F5344CB8AC3E}">
        <p14:creationId xmlns:p14="http://schemas.microsoft.com/office/powerpoint/2010/main" val="31662563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34472" y="0"/>
            <a:ext cx="10131425" cy="658906"/>
          </a:xfrm>
        </p:spPr>
        <p:txBody>
          <a:bodyPr>
            <a:normAutofit fontScale="90000"/>
          </a:bodyPr>
          <a:lstStyle/>
          <a:p>
            <a:r>
              <a:rPr lang="hu-HU" dirty="0"/>
              <a:t>Példa rendezésre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31819" y="658906"/>
            <a:ext cx="11641933" cy="6199093"/>
          </a:xfrm>
        </p:spPr>
        <p:txBody>
          <a:bodyPr>
            <a:noAutofit/>
          </a:bodyPr>
          <a:lstStyle/>
          <a:p>
            <a:r>
              <a:rPr lang="hu-HU" sz="2400" dirty="0">
                <a:cs typeface="Courier New" panose="02070309020205020404" pitchFamily="49" charset="0"/>
              </a:rPr>
              <a:t>Írjuk ki a vizsgázók nevét, születési évét, és a vizsga helyét csökkenő sorrendbe rendezve születési év szerint, és azon belül név szerint növekvő sorrendbe rendezve.</a:t>
            </a:r>
          </a:p>
          <a:p>
            <a:pPr marL="0" indent="0">
              <a:buNone/>
            </a:pP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var rendez = </a:t>
            </a:r>
            <a:r>
              <a:rPr lang="hu-H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adatok.OrderByDescending</a:t>
            </a:r>
            <a:endParaRPr lang="hu-H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(</a:t>
            </a:r>
          </a:p>
          <a:p>
            <a:pPr marL="0" indent="0">
              <a:buNone/>
            </a:pP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x =&gt; </a:t>
            </a:r>
            <a:r>
              <a:rPr lang="hu-H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x.szul</a:t>
            </a: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hu-H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</a:t>
            </a:r>
            <a:endParaRPr lang="hu-H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).</a:t>
            </a:r>
            <a:r>
              <a:rPr lang="hu-H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ThenBy</a:t>
            </a:r>
            <a:endParaRPr lang="hu-H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(</a:t>
            </a:r>
          </a:p>
          <a:p>
            <a:pPr marL="0" indent="0">
              <a:buNone/>
            </a:pP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x=&gt;</a:t>
            </a:r>
            <a:r>
              <a:rPr lang="hu-H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x.nev</a:t>
            </a:r>
            <a:endParaRPr lang="hu-H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hu-H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);</a:t>
            </a:r>
          </a:p>
        </p:txBody>
      </p:sp>
    </p:spTree>
    <p:extLst>
      <p:ext uri="{BB962C8B-B14F-4D97-AF65-F5344CB8AC3E}">
        <p14:creationId xmlns:p14="http://schemas.microsoft.com/office/powerpoint/2010/main" val="5109014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Égi">
  <a:themeElements>
    <a:clrScheme name="Égi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Égi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Égi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TC103457452[[fn=Égi]]</Template>
  <TotalTime>1197</TotalTime>
  <Words>246</Words>
  <Application>Microsoft Office PowerPoint</Application>
  <PresentationFormat>Szélesvásznú</PresentationFormat>
  <Paragraphs>63</Paragraphs>
  <Slides>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Courier New</vt:lpstr>
      <vt:lpstr>Égi</vt:lpstr>
      <vt:lpstr>Feltételek megadása</vt:lpstr>
      <vt:lpstr>Egyszerű példák</vt:lpstr>
      <vt:lpstr>Összetett példa</vt:lpstr>
      <vt:lpstr>Összetett példa</vt:lpstr>
      <vt:lpstr>Rendezés</vt:lpstr>
      <vt:lpstr>Rendezés több szempont szerint</vt:lpstr>
      <vt:lpstr>Példa rendezésre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Ciklusok a C# nyelvben</dc:title>
  <dc:creator>Péter Miklós</dc:creator>
  <cp:lastModifiedBy>Miki</cp:lastModifiedBy>
  <cp:revision>310</cp:revision>
  <dcterms:created xsi:type="dcterms:W3CDTF">2014-11-05T16:55:57Z</dcterms:created>
  <dcterms:modified xsi:type="dcterms:W3CDTF">2018-03-23T10:09:58Z</dcterms:modified>
</cp:coreProperties>
</file>