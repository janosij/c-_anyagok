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10"/>
  </p:handoutMasterIdLst>
  <p:sldIdLst>
    <p:sldId id="256" r:id="rId2"/>
    <p:sldId id="258" r:id="rId3"/>
    <p:sldId id="259" r:id="rId4"/>
    <p:sldId id="274" r:id="rId5"/>
    <p:sldId id="269" r:id="rId6"/>
    <p:sldId id="270" r:id="rId7"/>
    <p:sldId id="271" r:id="rId8"/>
    <p:sldId id="27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1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2016. 01. 01.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 smtClean="0"/>
              <a:t>Mintaszöveg szerkesztése</a:t>
            </a:r>
          </a:p>
          <a:p>
            <a:pPr lvl="1"/>
            <a:r>
              <a:rPr lang="hu-HU" dirty="0" smtClean="0"/>
              <a:t>Második szint</a:t>
            </a:r>
          </a:p>
          <a:p>
            <a:pPr lvl="2"/>
            <a:r>
              <a:rPr lang="hu-HU" dirty="0" smtClean="0"/>
              <a:t>Harmadik szint</a:t>
            </a:r>
          </a:p>
          <a:p>
            <a:pPr lvl="3"/>
            <a:r>
              <a:rPr lang="hu-HU" dirty="0" smtClean="0"/>
              <a:t>Negyedik szint</a:t>
            </a:r>
          </a:p>
          <a:p>
            <a:pPr lvl="4"/>
            <a:r>
              <a:rPr lang="hu-HU" dirty="0" smtClean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 smtClean="0"/>
              <a:t>Mintaszöveg szerkesztése</a:t>
            </a:r>
          </a:p>
          <a:p>
            <a:pPr lvl="1"/>
            <a:r>
              <a:rPr lang="hu-HU" dirty="0" smtClean="0"/>
              <a:t>Második szint</a:t>
            </a:r>
          </a:p>
          <a:p>
            <a:pPr lvl="2"/>
            <a:r>
              <a:rPr lang="hu-HU" dirty="0" smtClean="0"/>
              <a:t>Harmadik szint</a:t>
            </a:r>
          </a:p>
          <a:p>
            <a:pPr lvl="3"/>
            <a:r>
              <a:rPr lang="hu-HU" dirty="0" smtClean="0"/>
              <a:t>Negyedik szint</a:t>
            </a:r>
          </a:p>
          <a:p>
            <a:pPr lvl="4"/>
            <a:r>
              <a:rPr lang="hu-HU" dirty="0" smtClean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Adatok jellemzői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38548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/>
          <a:lstStyle/>
          <a:p>
            <a:r>
              <a:rPr lang="hu-HU" dirty="0" smtClean="0"/>
              <a:t>Változó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0153" y="1068947"/>
            <a:ext cx="11075830" cy="549927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u-HU" dirty="0" smtClean="0"/>
              <a:t>Olyan objektum, amely 4 összetevővel rendelkezik:</a:t>
            </a:r>
          </a:p>
          <a:p>
            <a:pPr lvl="1"/>
            <a:r>
              <a:rPr lang="hu-HU" b="1" u="sng" dirty="0" smtClean="0"/>
              <a:t>Név:</a:t>
            </a:r>
            <a:r>
              <a:rPr lang="hu-HU" dirty="0" smtClean="0"/>
              <a:t> Egyedi azonosító, amellyel hivatkozni lehet a változóra a program szövegében.</a:t>
            </a:r>
          </a:p>
          <a:p>
            <a:pPr lvl="1"/>
            <a:r>
              <a:rPr lang="hu-HU" b="1" u="sng" dirty="0" smtClean="0"/>
              <a:t>Cím:</a:t>
            </a:r>
            <a:r>
              <a:rPr lang="hu-HU" dirty="0" smtClean="0"/>
              <a:t> A memóriának azon területe, ahol a változó értéke elhelyezkedik.</a:t>
            </a:r>
          </a:p>
          <a:p>
            <a:pPr lvl="1"/>
            <a:r>
              <a:rPr lang="hu-HU" b="1" u="sng" dirty="0" smtClean="0"/>
              <a:t>Érték:</a:t>
            </a:r>
            <a:r>
              <a:rPr lang="hu-HU" dirty="0" smtClean="0"/>
              <a:t> Az adott memóriacímen elhelyezkedő érték (bitek sorozata).</a:t>
            </a:r>
          </a:p>
          <a:p>
            <a:pPr lvl="1"/>
            <a:r>
              <a:rPr lang="hu-HU" b="1" u="sng" dirty="0" smtClean="0"/>
              <a:t>Attribútumok:</a:t>
            </a:r>
            <a:r>
              <a:rPr lang="hu-HU" dirty="0" smtClean="0"/>
              <a:t> A változó futás közbeni viselkedését, és értékét határozza meg. Az egyik legfontosabb attribútum a típus, amely eldönti, hogy milyen </a:t>
            </a:r>
            <a:r>
              <a:rPr lang="hu-HU" dirty="0" err="1" smtClean="0"/>
              <a:t>ábározlási</a:t>
            </a:r>
            <a:r>
              <a:rPr lang="hu-HU" dirty="0" smtClean="0"/>
              <a:t> módon, és hány </a:t>
            </a:r>
            <a:r>
              <a:rPr lang="hu-HU" dirty="0" err="1" smtClean="0"/>
              <a:t>byte-on</a:t>
            </a:r>
            <a:r>
              <a:rPr lang="hu-HU" dirty="0" smtClean="0"/>
              <a:t> történik az ábrázolás.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514136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/>
          <a:lstStyle/>
          <a:p>
            <a:r>
              <a:rPr lang="hu-HU" dirty="0" smtClean="0"/>
              <a:t>Deklaráció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2" y="1068947"/>
            <a:ext cx="12088968" cy="5499278"/>
          </a:xfrm>
        </p:spPr>
        <p:txBody>
          <a:bodyPr>
            <a:normAutofit/>
          </a:bodyPr>
          <a:lstStyle/>
          <a:p>
            <a:r>
              <a:rPr lang="hu-HU" dirty="0" smtClean="0"/>
              <a:t>Az a művelet, amikor a változóhoz az attribútumok hozzárendelődnek.</a:t>
            </a:r>
          </a:p>
          <a:p>
            <a:r>
              <a:rPr lang="hu-HU" dirty="0" smtClean="0"/>
              <a:t>Ha egy nyelv nem típusos, akkor a típust nem kell megadni.</a:t>
            </a:r>
          </a:p>
        </p:txBody>
      </p:sp>
    </p:spTree>
    <p:extLst>
      <p:ext uri="{BB962C8B-B14F-4D97-AF65-F5344CB8AC3E}">
        <p14:creationId xmlns:p14="http://schemas.microsoft.com/office/powerpoint/2010/main" val="33646174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 smtClean="0"/>
              <a:t>Változó neve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2" y="1068947"/>
            <a:ext cx="12088968" cy="5499278"/>
          </a:xfrm>
        </p:spPr>
        <p:txBody>
          <a:bodyPr>
            <a:normAutofit/>
          </a:bodyPr>
          <a:lstStyle/>
          <a:p>
            <a:r>
              <a:rPr lang="hu-HU" b="1" u="sng" dirty="0" smtClean="0"/>
              <a:t>Azonosító:</a:t>
            </a:r>
            <a:r>
              <a:rPr lang="hu-HU" dirty="0" smtClean="0"/>
              <a:t> Olyan karaktersorozat, amely betűvel kezdődik, és betűvel vagy számjeggyel folytatódik. Betűnek számíthatnak egyes speciális karakterek is, mint _</a:t>
            </a:r>
          </a:p>
          <a:p>
            <a:r>
              <a:rPr lang="hu-HU" dirty="0" smtClean="0"/>
              <a:t>Egyes programozási nyelvekben a kisbetű és nagybetű különbözik egymástól, más nyelvekben nem.</a:t>
            </a:r>
          </a:p>
          <a:p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22322114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/>
          <a:lstStyle/>
          <a:p>
            <a:r>
              <a:rPr lang="hu-HU" dirty="0" smtClean="0"/>
              <a:t>Változó jellemzői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2" y="1068947"/>
            <a:ext cx="12088968" cy="5499278"/>
          </a:xfrm>
        </p:spPr>
        <p:txBody>
          <a:bodyPr>
            <a:normAutofit/>
          </a:bodyPr>
          <a:lstStyle/>
          <a:p>
            <a:r>
              <a:rPr lang="hu-HU" b="1" u="sng" dirty="0" smtClean="0"/>
              <a:t>Hatáskör:</a:t>
            </a:r>
            <a:r>
              <a:rPr lang="hu-HU" dirty="0" smtClean="0"/>
              <a:t> A programnak az a része, ahol a változóra hivatkozni tudunk. Típusai: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b="1" u="sng" dirty="0" smtClean="0"/>
              <a:t>Lokális:</a:t>
            </a:r>
            <a:r>
              <a:rPr lang="hu-HU" dirty="0" smtClean="0"/>
              <a:t> Csak adott utasításblokkban tudjuk használni.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b="1" u="sng" dirty="0" smtClean="0"/>
              <a:t>Globális:</a:t>
            </a:r>
            <a:r>
              <a:rPr lang="hu-HU" dirty="0" smtClean="0"/>
              <a:t> A program teljes területén használható.</a:t>
            </a:r>
          </a:p>
          <a:p>
            <a:r>
              <a:rPr lang="hu-HU" b="1" u="sng" dirty="0" smtClean="0"/>
              <a:t>Élettartam:</a:t>
            </a:r>
            <a:r>
              <a:rPr lang="hu-HU" dirty="0" smtClean="0"/>
              <a:t> A programnak az a része, ahol a változó értékkel rendelkezhet a memória egy területén.</a:t>
            </a:r>
          </a:p>
          <a:p>
            <a:r>
              <a:rPr lang="hu-HU" b="1" u="sng" dirty="0" smtClean="0"/>
              <a:t>Kezdőérték:</a:t>
            </a:r>
            <a:r>
              <a:rPr lang="hu-HU" dirty="0" smtClean="0"/>
              <a:t> A változó azon értéke, amelyet a deklaráció során adunk meg. Ha nem adunk meg értéket, nyelvtől függ, hogy kap-e kezdőértéket.</a:t>
            </a:r>
          </a:p>
        </p:txBody>
      </p:sp>
    </p:spTree>
    <p:extLst>
      <p:ext uri="{BB962C8B-B14F-4D97-AF65-F5344CB8AC3E}">
        <p14:creationId xmlns:p14="http://schemas.microsoft.com/office/powerpoint/2010/main" val="1905903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 fontScale="90000"/>
          </a:bodyPr>
          <a:lstStyle/>
          <a:p>
            <a:r>
              <a:rPr lang="hu-HU" dirty="0" err="1" smtClean="0"/>
              <a:t>KONstans</a:t>
            </a:r>
            <a:r>
              <a:rPr lang="hu-HU" dirty="0" smtClean="0"/>
              <a:t> (</a:t>
            </a:r>
            <a:r>
              <a:rPr lang="hu-HU" dirty="0" err="1" smtClean="0"/>
              <a:t>literál</a:t>
            </a:r>
            <a:r>
              <a:rPr lang="hu-HU" dirty="0" smtClean="0"/>
              <a:t>), nevesített konstans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2" y="1068947"/>
            <a:ext cx="12088968" cy="5499278"/>
          </a:xfrm>
        </p:spPr>
        <p:txBody>
          <a:bodyPr>
            <a:normAutofit/>
          </a:bodyPr>
          <a:lstStyle/>
          <a:p>
            <a:r>
              <a:rPr lang="hu-HU" b="1" u="sng" dirty="0" smtClean="0"/>
              <a:t>Konstans:</a:t>
            </a:r>
            <a:r>
              <a:rPr lang="hu-HU" dirty="0" smtClean="0"/>
              <a:t> Egy érték (matematika, logikai, szöveges,…), amelyet a programban használunk. Pl. 3.5	54	”</a:t>
            </a:r>
            <a:r>
              <a:rPr lang="hu-HU" dirty="0" err="1" smtClean="0"/>
              <a:t>xyz</a:t>
            </a:r>
            <a:r>
              <a:rPr lang="hu-HU" dirty="0" smtClean="0"/>
              <a:t>”	IGAZ</a:t>
            </a:r>
          </a:p>
          <a:p>
            <a:r>
              <a:rPr lang="hu-HU" b="1" u="sng" dirty="0" smtClean="0"/>
              <a:t>Nevesített konstans:</a:t>
            </a:r>
            <a:r>
              <a:rPr lang="hu-HU" dirty="0" smtClean="0"/>
              <a:t> Egy olyan változó, amelynek az értékét csak a deklaráció során tudjuk megadni, és azt nem lehet módosítani. </a:t>
            </a:r>
          </a:p>
          <a:p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26954967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 smtClean="0"/>
              <a:t>Műveletek változókkal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03032" y="1068947"/>
                <a:ext cx="12088968" cy="5499278"/>
              </a:xfrm>
            </p:spPr>
            <p:txBody>
              <a:bodyPr>
                <a:normAutofit fontScale="92500"/>
              </a:bodyPr>
              <a:lstStyle/>
              <a:p>
                <a:r>
                  <a:rPr lang="hu-HU" b="1" u="sng" dirty="0" smtClean="0"/>
                  <a:t>Értékadás:</a:t>
                </a:r>
                <a:r>
                  <a:rPr lang="hu-HU" dirty="0" smtClean="0"/>
                  <a:t> A változónak hozzárendeljük, vagy felülírjuk az értékét.</a:t>
                </a:r>
              </a:p>
              <a:p>
                <a:r>
                  <a:rPr lang="hu-HU" b="1" u="sng" dirty="0" smtClean="0"/>
                  <a:t>Matematikai műveletek:</a:t>
                </a:r>
                <a:r>
                  <a:rPr lang="hu-HU" dirty="0" smtClean="0"/>
                  <a:t> +		-		*		/		% (maradékos osztás)</a:t>
                </a:r>
              </a:p>
              <a:p>
                <a:r>
                  <a:rPr lang="hu-HU" b="1" u="sng" dirty="0" smtClean="0"/>
                  <a:t>Összehasonlító műveletek:</a:t>
                </a:r>
                <a:r>
                  <a:rPr lang="hu-HU" dirty="0"/>
                  <a:t/>
                </a:r>
                <a:br>
                  <a:rPr lang="hu-HU" dirty="0"/>
                </a:br>
                <a:r>
                  <a:rPr lang="hu-HU" dirty="0" smtClean="0"/>
                  <a:t>&lt;,&gt;,&lt;=,&gt;=,== (egyenlőség),!= (nem egyenlő)</a:t>
                </a:r>
              </a:p>
              <a:p>
                <a:r>
                  <a:rPr lang="hu-HU" b="1" u="sng" dirty="0" smtClean="0"/>
                  <a:t>Logikai műveletek:</a:t>
                </a:r>
                <a:br>
                  <a:rPr lang="hu-HU" b="1" u="sng" dirty="0" smtClean="0"/>
                </a:br>
                <a:r>
                  <a:rPr lang="hu-HU" dirty="0" smtClean="0"/>
                  <a:t>logikai ÉS (&amp;&amp;), logikai VAGY (||), logikai NEM (!), kizáró VAGY (XOR)</a:t>
                </a:r>
              </a:p>
              <a:p>
                <a:r>
                  <a:rPr lang="hu-HU" dirty="0" smtClean="0"/>
                  <a:t>A megfelelő zárójelezésre, műveleti sorrendre figyelni kell!</a:t>
                </a:r>
              </a:p>
              <a:p>
                <a:r>
                  <a:rPr lang="hu-HU" dirty="0" smtClean="0"/>
                  <a:t>Pl. x páros: x%2==0</a:t>
                </a:r>
              </a:p>
              <a:p>
                <a14:m>
                  <m:oMath xmlns:m="http://schemas.openxmlformats.org/officeDocument/2006/math">
                    <m:r>
                      <a:rPr lang="hu-HU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hu-H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hu-H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hu-H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≤10</m:t>
                    </m:r>
                  </m:oMath>
                </a14:m>
                <a:r>
                  <a:rPr lang="hu-HU" dirty="0" smtClean="0"/>
                  <a:t>		megfelelője		x&gt;=1 &amp;&amp; x&lt;=10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032" y="1068947"/>
                <a:ext cx="12088968" cy="5499278"/>
              </a:xfrm>
              <a:blipFill>
                <a:blip r:embed="rId2"/>
                <a:stretch>
                  <a:fillRect l="-1210" t="-443" r="-1160" b="-299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31257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 smtClean="0"/>
              <a:t>Kifejezések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2" y="1068947"/>
            <a:ext cx="12088968" cy="5499278"/>
          </a:xfrm>
        </p:spPr>
        <p:txBody>
          <a:bodyPr>
            <a:normAutofit lnSpcReduction="10000"/>
          </a:bodyPr>
          <a:lstStyle/>
          <a:p>
            <a:r>
              <a:rPr lang="hu-HU" sz="3200" dirty="0" smtClean="0"/>
              <a:t>Olyan eszköz, amely a program egy adott pontján meglévő értékekből új értéket állít elő.</a:t>
            </a:r>
          </a:p>
          <a:p>
            <a:pPr lvl="1"/>
            <a:r>
              <a:rPr lang="hu-HU" sz="2800" b="1" dirty="0" smtClean="0"/>
              <a:t>Elemei:</a:t>
            </a:r>
            <a:r>
              <a:rPr lang="hu-HU" sz="2800" dirty="0" smtClean="0"/>
              <a:t> Kerek zárójel, operandus, operátor.</a:t>
            </a:r>
          </a:p>
          <a:p>
            <a:pPr lvl="1"/>
            <a:r>
              <a:rPr lang="hu-HU" sz="2800" b="1" dirty="0" smtClean="0"/>
              <a:t>Operandus: </a:t>
            </a:r>
            <a:r>
              <a:rPr lang="hu-HU" sz="2800" dirty="0" smtClean="0"/>
              <a:t>konstans, nevesített konstans, változó</a:t>
            </a:r>
          </a:p>
          <a:p>
            <a:pPr lvl="1"/>
            <a:r>
              <a:rPr lang="hu-HU" sz="2800" b="1" dirty="0" smtClean="0"/>
              <a:t>Operátor:</a:t>
            </a:r>
            <a:r>
              <a:rPr lang="hu-HU" sz="2800" dirty="0" smtClean="0"/>
              <a:t> lásd műveleti jelek</a:t>
            </a:r>
          </a:p>
          <a:p>
            <a:pPr marL="457200" lvl="1" indent="0">
              <a:buNone/>
            </a:pPr>
            <a:r>
              <a:rPr lang="hu-HU" sz="2800" b="1" dirty="0" smtClean="0"/>
              <a:t>Kiegészítés: </a:t>
            </a:r>
            <a:r>
              <a:rPr lang="hu-HU" sz="2800" dirty="0" smtClean="0"/>
              <a:t>++ (értéknövelés), -- (értékcsökkentés). Pl. x++ (x=x+1), ++x (x=x+1), y-- (y=y-1), --y (y=y-1)</a:t>
            </a:r>
          </a:p>
          <a:p>
            <a:pPr marL="457200" lvl="1" indent="0">
              <a:buNone/>
            </a:pPr>
            <a:r>
              <a:rPr lang="hu-HU" sz="2800" b="1" dirty="0" smtClean="0"/>
              <a:t>Rövidítések:</a:t>
            </a:r>
            <a:r>
              <a:rPr lang="hu-HU" sz="2800" dirty="0" smtClean="0"/>
              <a:t> x+=a; =&gt; x=</a:t>
            </a:r>
            <a:r>
              <a:rPr lang="hu-HU" sz="2800" dirty="0" err="1" smtClean="0"/>
              <a:t>x</a:t>
            </a:r>
            <a:r>
              <a:rPr lang="hu-HU" sz="2800" dirty="0" smtClean="0"/>
              <a:t>+a. Ugyanígy működik -,*,/,% esetében is</a:t>
            </a:r>
          </a:p>
          <a:p>
            <a:pPr marL="457200" lvl="1" indent="0">
              <a:buNone/>
            </a:pPr>
            <a:r>
              <a:rPr lang="hu-HU" sz="2800" dirty="0" smtClean="0"/>
              <a:t>Pl. x=x+3		megfelelője 		x+=3</a:t>
            </a:r>
          </a:p>
          <a:p>
            <a:pPr marL="457200" lvl="1" indent="0">
              <a:buNone/>
            </a:pPr>
            <a:r>
              <a:rPr lang="hu-HU" sz="2800" dirty="0" smtClean="0"/>
              <a:t>Kizáró vagy: A XOR B igazságtáblázata akkor igaz, ha az egyik igaz, a másik hamis.</a:t>
            </a:r>
          </a:p>
        </p:txBody>
      </p:sp>
    </p:spTree>
    <p:extLst>
      <p:ext uri="{BB962C8B-B14F-4D97-AF65-F5344CB8AC3E}">
        <p14:creationId xmlns:p14="http://schemas.microsoft.com/office/powerpoint/2010/main" val="22277571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1265</TotalTime>
  <Words>358</Words>
  <Application>Microsoft Office PowerPoint</Application>
  <PresentationFormat>Szélesvásznú</PresentationFormat>
  <Paragraphs>39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Wingdings</vt:lpstr>
      <vt:lpstr>Égi</vt:lpstr>
      <vt:lpstr>Adatok jellemzői</vt:lpstr>
      <vt:lpstr>Változó</vt:lpstr>
      <vt:lpstr>Deklaráció</vt:lpstr>
      <vt:lpstr>Változó neve</vt:lpstr>
      <vt:lpstr>Változó jellemzői</vt:lpstr>
      <vt:lpstr>KONstans (literál), nevesített konstans</vt:lpstr>
      <vt:lpstr>Műveletek változókkal</vt:lpstr>
      <vt:lpstr>Kifejezések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Péter Miklós</cp:lastModifiedBy>
  <cp:revision>314</cp:revision>
  <dcterms:created xsi:type="dcterms:W3CDTF">2014-11-05T16:55:57Z</dcterms:created>
  <dcterms:modified xsi:type="dcterms:W3CDTF">2016-01-01T14:18:29Z</dcterms:modified>
</cp:coreProperties>
</file>