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60" r:id="rId1"/>
  </p:sldMasterIdLst>
  <p:handoutMasterIdLst>
    <p:handoutMasterId r:id="rId7"/>
  </p:handoutMasterIdLst>
  <p:sldIdLst>
    <p:sldId id="305" r:id="rId2"/>
    <p:sldId id="310" r:id="rId3"/>
    <p:sldId id="316" r:id="rId4"/>
    <p:sldId id="306" r:id="rId5"/>
    <p:sldId id="308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Közepesen sötét stílu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Stílus és rács nélkül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21" autoAdjust="0"/>
    <p:restoredTop sz="94660"/>
  </p:normalViewPr>
  <p:slideViewPr>
    <p:cSldViewPr snapToGrid="0">
      <p:cViewPr varScale="1">
        <p:scale>
          <a:sx n="63" d="100"/>
          <a:sy n="63" d="100"/>
        </p:scale>
        <p:origin x="724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2126"/>
    </p:cViewPr>
  </p:sorterViewPr>
  <p:notesViewPr>
    <p:cSldViewPr snapToGrid="0">
      <p:cViewPr varScale="1">
        <p:scale>
          <a:sx n="57" d="100"/>
          <a:sy n="57" d="100"/>
        </p:scale>
        <p:origin x="283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5B60BE-C4F1-405D-B022-EC73AF30A1CB}" type="datetimeFigureOut">
              <a:rPr lang="hu-HU" smtClean="0"/>
              <a:pPr/>
              <a:t>2020. 01. 28.</a:t>
            </a:fld>
            <a:endParaRPr lang="hu-HU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AC1FD9-8148-4354-8614-90D9F03A1422}" type="slidenum">
              <a:rPr lang="hu-HU" smtClean="0"/>
              <a:pPr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215446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Alcím mintájának szerkesztése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AAD347D-5ACD-4C99-B74B-A9C85AD731AF}" type="datetimeFigureOut">
              <a:rPr lang="en-US" smtClean="0"/>
              <a:pPr/>
              <a:t>1/28/2020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91639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254000"/>
            <a:ext cx="10131425" cy="1456267"/>
          </a:xfrm>
        </p:spPr>
        <p:txBody>
          <a:bodyPr/>
          <a:lstStyle/>
          <a:p>
            <a:r>
              <a:rPr lang="hu-HU" dirty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1" y="1710267"/>
            <a:ext cx="10131425" cy="5020733"/>
          </a:xfrm>
        </p:spPr>
        <p:txBody>
          <a:bodyPr anchor="ctr"/>
          <a:lstStyle/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458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9796027F-7875-4030-9381-8BD8C4F21935}" type="datetimeFigureOut">
              <a:rPr lang="en-US" smtClean="0"/>
              <a:pPr/>
              <a:t>1/28/2020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047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9796027F-7875-4030-9381-8BD8C4F21935}" type="datetimeFigureOut">
              <a:rPr lang="en-US" smtClean="0"/>
              <a:pPr/>
              <a:t>1/28/2020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3230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9796027F-7875-4030-9381-8BD8C4F21935}" type="datetimeFigureOut">
              <a:rPr lang="en-US" smtClean="0"/>
              <a:pPr/>
              <a:t>1/28/2020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3225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1/28/2020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9591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1/28/2020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8697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1/28/2020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2592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1/28/2020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4869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AAD347D-5ACD-4C99-B74B-A9C85AD731AF}" type="datetimeFigureOut">
              <a:rPr lang="en-US" smtClean="0"/>
              <a:pPr/>
              <a:t>1/28/2020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10958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1/28/2020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24038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1/28/2020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22093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1/28/2020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26247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 idéze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AAD347D-5ACD-4C99-B74B-A9C85AD731AF}" type="datetimeFigureOut">
              <a:rPr lang="en-US" smtClean="0"/>
              <a:pPr/>
              <a:t>1/28/2020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59643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az vagy ham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AAD347D-5ACD-4C99-B74B-A9C85AD731AF}" type="datetimeFigureOut">
              <a:rPr lang="en-US" smtClean="0"/>
              <a:pPr/>
              <a:t>1/28/2020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227517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1/28/2020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94979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1/28/2020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568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1270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dirty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1583267"/>
            <a:ext cx="10131425" cy="51350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019155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  <p:sldLayoutId id="2147483772" r:id="rId12"/>
    <p:sldLayoutId id="2147483773" r:id="rId13"/>
    <p:sldLayoutId id="2147483774" r:id="rId14"/>
    <p:sldLayoutId id="2147483775" r:id="rId15"/>
    <p:sldLayoutId id="2147483776" r:id="rId16"/>
    <p:sldLayoutId id="2147483777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4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3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3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2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0" y="0"/>
            <a:ext cx="10131425" cy="660400"/>
          </a:xfrm>
        </p:spPr>
        <p:txBody>
          <a:bodyPr>
            <a:normAutofit fontScale="90000"/>
          </a:bodyPr>
          <a:lstStyle/>
          <a:p>
            <a:r>
              <a:rPr lang="hu-HU" dirty="0"/>
              <a:t>Mátrixok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7235" y="660400"/>
            <a:ext cx="12057529" cy="6043705"/>
          </a:xfrm>
        </p:spPr>
        <p:txBody>
          <a:bodyPr>
            <a:normAutofit lnSpcReduction="10000"/>
          </a:bodyPr>
          <a:lstStyle/>
          <a:p>
            <a:r>
              <a:rPr lang="hu-HU" b="1" u="sng" dirty="0">
                <a:cs typeface="Courier New" panose="02070309020205020404" pitchFamily="49" charset="0"/>
              </a:rPr>
              <a:t>Mátrix: </a:t>
            </a:r>
            <a:r>
              <a:rPr lang="hu-HU" dirty="0">
                <a:cs typeface="Courier New" panose="02070309020205020404" pitchFamily="49" charset="0"/>
              </a:rPr>
              <a:t>Számok (vagy adatok) n sorban és m oszlopban elhelyezése.</a:t>
            </a:r>
          </a:p>
          <a:p>
            <a:r>
              <a:rPr lang="hu-HU" b="1" u="sng" dirty="0">
                <a:cs typeface="Courier New" panose="02070309020205020404" pitchFamily="49" charset="0"/>
              </a:rPr>
              <a:t>Deklarálás és helyfoglalás:</a:t>
            </a:r>
            <a:br>
              <a:rPr lang="hu-HU" dirty="0">
                <a:cs typeface="Courier New" panose="02070309020205020404" pitchFamily="49" charset="0"/>
              </a:rPr>
            </a:b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típus[,] mátrix=</a:t>
            </a:r>
            <a:r>
              <a:rPr lang="hu-HU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 típus[sor,oszlop];</a:t>
            </a:r>
            <a:b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sor</a:t>
            </a:r>
            <a:r>
              <a:rPr lang="hu-HU" dirty="0">
                <a:cs typeface="Courier New" panose="02070309020205020404" pitchFamily="49" charset="0"/>
              </a:rPr>
              <a:t>: a sorok száma, </a:t>
            </a: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oszlop</a:t>
            </a:r>
            <a:r>
              <a:rPr lang="hu-HU" dirty="0">
                <a:cs typeface="Courier New" panose="02070309020205020404" pitchFamily="49" charset="0"/>
              </a:rPr>
              <a:t>, az oszlopok száma.</a:t>
            </a:r>
          </a:p>
          <a:p>
            <a:r>
              <a:rPr lang="hu-HU" b="1" u="sng" dirty="0">
                <a:cs typeface="Courier New" panose="02070309020205020404" pitchFamily="49" charset="0"/>
              </a:rPr>
              <a:t>Hivatkozás egy elemre:</a:t>
            </a:r>
            <a:br>
              <a:rPr lang="hu-HU" dirty="0">
                <a:cs typeface="Courier New" panose="02070309020205020404" pitchFamily="49" charset="0"/>
              </a:rPr>
            </a:b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mátrix[i,j];</a:t>
            </a:r>
            <a:br>
              <a:rPr lang="hu-HU" dirty="0">
                <a:cs typeface="Courier New" panose="02070309020205020404" pitchFamily="49" charset="0"/>
              </a:rPr>
            </a:b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hu-HU" dirty="0">
                <a:cs typeface="Courier New" panose="02070309020205020404" pitchFamily="49" charset="0"/>
              </a:rPr>
              <a:t> a sor számát, </a:t>
            </a: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j</a:t>
            </a:r>
            <a:r>
              <a:rPr lang="hu-HU" dirty="0">
                <a:cs typeface="Courier New" panose="02070309020205020404" pitchFamily="49" charset="0"/>
              </a:rPr>
              <a:t> az oszlop számát jelenti.</a:t>
            </a:r>
          </a:p>
          <a:p>
            <a:r>
              <a:rPr lang="hu-HU" dirty="0">
                <a:cs typeface="Courier New" panose="02070309020205020404" pitchFamily="49" charset="0"/>
              </a:rPr>
              <a:t>Van több dimenziós mátrix is (pl. </a:t>
            </a: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int[,,]</a:t>
            </a:r>
            <a:r>
              <a:rPr lang="hu-HU" dirty="0">
                <a:cs typeface="Courier New" panose="02070309020205020404" pitchFamily="49" charset="0"/>
              </a:rPr>
              <a:t>)</a:t>
            </a:r>
          </a:p>
          <a:p>
            <a:r>
              <a:rPr lang="hu-HU" dirty="0">
                <a:cs typeface="Courier New" panose="02070309020205020404" pitchFamily="49" charset="0"/>
              </a:rPr>
              <a:t>Az eddig tanult tömböt vektornak szoktuk nevezni.</a:t>
            </a:r>
          </a:p>
        </p:txBody>
      </p:sp>
    </p:spTree>
    <p:extLst>
      <p:ext uri="{BB962C8B-B14F-4D97-AF65-F5344CB8AC3E}">
        <p14:creationId xmlns:p14="http://schemas.microsoft.com/office/powerpoint/2010/main" val="9657672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7"/>
          <p:cNvSpPr txBox="1"/>
          <p:nvPr/>
        </p:nvSpPr>
        <p:spPr>
          <a:xfrm>
            <a:off x="249836" y="0"/>
            <a:ext cx="11662348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hu-HU" sz="2800" b="1" u="sng" dirty="0" err="1">
                <a:cs typeface="Courier New" panose="02070309020205020404" pitchFamily="49" charset="0"/>
              </a:rPr>
              <a:t>Kezdőértékadás</a:t>
            </a:r>
            <a:r>
              <a:rPr lang="hu-HU" sz="2800" u="sng" dirty="0">
                <a:cs typeface="Courier New" panose="02070309020205020404" pitchFamily="49" charset="0"/>
              </a:rPr>
              <a:t> </a:t>
            </a:r>
            <a:r>
              <a:rPr lang="hu-HU" sz="2800" b="1" u="sng" dirty="0">
                <a:cs typeface="Courier New" panose="02070309020205020404" pitchFamily="49" charset="0"/>
              </a:rPr>
              <a:t>mátrixnak</a:t>
            </a:r>
            <a:r>
              <a:rPr lang="hu-HU" sz="2800" u="sng" dirty="0">
                <a:cs typeface="Courier New" panose="02070309020205020404" pitchFamily="49" charset="0"/>
              </a:rPr>
              <a:t>:</a:t>
            </a:r>
          </a:p>
          <a:p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int[,]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matrix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[,]</a:t>
            </a:r>
          </a:p>
          <a:p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{12, 23, 2},</a:t>
            </a:r>
          </a:p>
          <a:p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{13, 67, 52},</a:t>
            </a:r>
          </a:p>
          <a:p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{45, 55, 1}</a:t>
            </a:r>
          </a:p>
          <a:p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hu-HU" sz="2800" dirty="0">
                <a:cs typeface="Times New Roman" panose="02020603050405020304" pitchFamily="18" charset="0"/>
              </a:rPr>
              <a:t>Mátrix megadható 1 dimenziós tömbök (vektorok) tömbjeként is:</a:t>
            </a:r>
          </a:p>
          <a:p>
            <a:r>
              <a:rPr lang="hu-HU" sz="2800" dirty="0">
                <a:latin typeface="Courier New" panose="02070309020205020404" pitchFamily="49" charset="0"/>
                <a:cs typeface="Times New Roman" panose="02020603050405020304" pitchFamily="18" charset="0"/>
              </a:rPr>
              <a:t>	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int[][] tömb;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hu-HU" sz="2800" dirty="0">
                <a:cs typeface="Times New Roman" panose="02020603050405020304" pitchFamily="18" charset="0"/>
              </a:rPr>
              <a:t>A helyet lehet úgy foglalni, hogy csak a „sorok” számát adjuk meg.</a:t>
            </a:r>
          </a:p>
          <a:p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tömb=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int[3][];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hu-HU" sz="2800" dirty="0">
                <a:cs typeface="Courier New" panose="02070309020205020404" pitchFamily="49" charset="0"/>
              </a:rPr>
              <a:t>Ezek után lehet a soroknak elemszámot adni:</a:t>
            </a:r>
          </a:p>
          <a:p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tömb[i]=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int[5];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hu-HU" sz="2800" dirty="0">
                <a:cs typeface="Courier New" panose="02070309020205020404" pitchFamily="49" charset="0"/>
              </a:rPr>
              <a:t>Ekkor a „soroknak” különböző elemszáma lesz.</a:t>
            </a:r>
          </a:p>
        </p:txBody>
      </p:sp>
    </p:spTree>
    <p:extLst>
      <p:ext uri="{BB962C8B-B14F-4D97-AF65-F5344CB8AC3E}">
        <p14:creationId xmlns:p14="http://schemas.microsoft.com/office/powerpoint/2010/main" val="4269835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763535" y="2545547"/>
            <a:ext cx="10131425" cy="660400"/>
          </a:xfrm>
        </p:spPr>
        <p:txBody>
          <a:bodyPr>
            <a:normAutofit fontScale="90000"/>
          </a:bodyPr>
          <a:lstStyle/>
          <a:p>
            <a:r>
              <a:rPr lang="hu-HU" dirty="0"/>
              <a:t>Példa speciális négyzetes mátrixra</a:t>
            </a:r>
          </a:p>
        </p:txBody>
      </p:sp>
      <p:graphicFrame>
        <p:nvGraphicFramePr>
          <p:cNvPr id="4" name="Tartalom helye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0661478"/>
              </p:ext>
            </p:extLst>
          </p:nvPr>
        </p:nvGraphicFramePr>
        <p:xfrm>
          <a:off x="936104" y="3385503"/>
          <a:ext cx="4320000" cy="2560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r>
                        <a:rPr lang="hu-HU" sz="3600" b="1" dirty="0">
                          <a:solidFill>
                            <a:srgbClr val="FFFF00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3600" b="1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3600" b="1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3600" b="1" dirty="0">
                          <a:solidFill>
                            <a:srgbClr val="92D050"/>
                          </a:solidFill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lang="hu-HU" sz="36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3600" b="1" dirty="0">
                          <a:solidFill>
                            <a:srgbClr val="FFFF00"/>
                          </a:solidFill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3600" b="1" dirty="0">
                          <a:solidFill>
                            <a:srgbClr val="92D050"/>
                          </a:solidFill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3600" b="1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lang="hu-HU" sz="36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3600" b="1" dirty="0">
                          <a:solidFill>
                            <a:srgbClr val="92D05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3600" b="1" dirty="0">
                          <a:solidFill>
                            <a:srgbClr val="FFFF00"/>
                          </a:solidFill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3600" b="1" dirty="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lang="hu-HU" sz="3600" b="1" dirty="0">
                          <a:solidFill>
                            <a:srgbClr val="92D05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36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36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3600" b="1" dirty="0">
                          <a:solidFill>
                            <a:srgbClr val="FFFF00"/>
                          </a:solidFill>
                        </a:rPr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Tartalom helye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00923430"/>
              </p:ext>
            </p:extLst>
          </p:nvPr>
        </p:nvGraphicFramePr>
        <p:xfrm>
          <a:off x="6096000" y="3385503"/>
          <a:ext cx="4320000" cy="2560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r>
                        <a:rPr lang="hu-HU" sz="3600" b="1" dirty="0">
                          <a:solidFill>
                            <a:srgbClr val="FFFF00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36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36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3600" b="1" dirty="0">
                          <a:solidFill>
                            <a:srgbClr val="92D050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lang="hu-HU" sz="3600" b="1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3600" b="1" dirty="0">
                          <a:solidFill>
                            <a:srgbClr val="FFFF00"/>
                          </a:solidFill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3600" b="1" dirty="0">
                          <a:solidFill>
                            <a:srgbClr val="92D05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36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lang="hu-HU" sz="3600" b="1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3600" b="1" dirty="0">
                          <a:solidFill>
                            <a:srgbClr val="92D050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3600" b="1" dirty="0">
                          <a:solidFill>
                            <a:srgbClr val="FFFF00"/>
                          </a:solidFill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36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lang="hu-HU" sz="3600" b="1" dirty="0">
                          <a:solidFill>
                            <a:srgbClr val="92D050"/>
                          </a:solidFill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3600" b="1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3600" b="1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3600" b="1" dirty="0">
                          <a:solidFill>
                            <a:srgbClr val="FFFF00"/>
                          </a:solidFill>
                        </a:rPr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zövegdoboz 5"/>
          <p:cNvSpPr txBox="1"/>
          <p:nvPr/>
        </p:nvSpPr>
        <p:spPr>
          <a:xfrm>
            <a:off x="763535" y="6111450"/>
            <a:ext cx="44220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3200" b="1" dirty="0"/>
              <a:t>Felsőháromszög mátrix</a:t>
            </a:r>
          </a:p>
        </p:txBody>
      </p:sp>
      <p:sp>
        <p:nvSpPr>
          <p:cNvPr id="7" name="Szövegdoboz 6"/>
          <p:cNvSpPr txBox="1"/>
          <p:nvPr/>
        </p:nvSpPr>
        <p:spPr>
          <a:xfrm>
            <a:off x="6081010" y="6111610"/>
            <a:ext cx="44220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3200" b="1" dirty="0"/>
              <a:t>Alsóháromszög mátrix</a:t>
            </a:r>
          </a:p>
        </p:txBody>
      </p:sp>
      <p:sp>
        <p:nvSpPr>
          <p:cNvPr id="8" name="Szövegdoboz 7"/>
          <p:cNvSpPr txBox="1"/>
          <p:nvPr/>
        </p:nvSpPr>
        <p:spPr>
          <a:xfrm>
            <a:off x="249836" y="0"/>
            <a:ext cx="1166234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200" dirty="0">
                <a:cs typeface="Courier New" panose="02070309020205020404" pitchFamily="49" charset="0"/>
              </a:rPr>
              <a:t>Négyzetes mátrix: A sor és az oszlop számok megegyeznek. Alapfogalmak:</a:t>
            </a:r>
          </a:p>
          <a:p>
            <a:pPr lvl="1"/>
            <a:r>
              <a:rPr lang="hu-HU" sz="3200" dirty="0">
                <a:cs typeface="Courier New" panose="02070309020205020404" pitchFamily="49" charset="0"/>
              </a:rPr>
              <a:t>Főátló: a mátrix </a:t>
            </a: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i,</a:t>
            </a:r>
            <a:r>
              <a:rPr lang="hu-HU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hu-HU" sz="3200" dirty="0">
                <a:cs typeface="Courier New" panose="02070309020205020404" pitchFamily="49" charset="0"/>
              </a:rPr>
              <a:t> helyén lévő elemei.</a:t>
            </a:r>
          </a:p>
          <a:p>
            <a:pPr lvl="1"/>
            <a:r>
              <a:rPr lang="hu-HU" sz="3200" dirty="0">
                <a:cs typeface="Courier New" panose="02070309020205020404" pitchFamily="49" charset="0"/>
              </a:rPr>
              <a:t>Mellékátló: a mátrix </a:t>
            </a: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n-i,i</a:t>
            </a:r>
            <a:r>
              <a:rPr lang="hu-HU" sz="3200" dirty="0">
                <a:cs typeface="Courier New" panose="02070309020205020404" pitchFamily="49" charset="0"/>
              </a:rPr>
              <a:t> helyén lévő elemei.</a:t>
            </a:r>
          </a:p>
          <a:p>
            <a:endParaRPr lang="hu-HU" sz="3200" dirty="0"/>
          </a:p>
        </p:txBody>
      </p:sp>
    </p:spTree>
    <p:extLst>
      <p:ext uri="{BB962C8B-B14F-4D97-AF65-F5344CB8AC3E}">
        <p14:creationId xmlns:p14="http://schemas.microsoft.com/office/powerpoint/2010/main" val="761911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0" y="0"/>
            <a:ext cx="10131425" cy="660400"/>
          </a:xfrm>
        </p:spPr>
        <p:txBody>
          <a:bodyPr>
            <a:normAutofit fontScale="90000"/>
          </a:bodyPr>
          <a:lstStyle/>
          <a:p>
            <a:r>
              <a:rPr lang="hu-HU" dirty="0"/>
              <a:t>Mátrixok végigolvasása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7235" y="766482"/>
            <a:ext cx="12057529" cy="59376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dirty="0">
                <a:cs typeface="Courier New" panose="02070309020205020404" pitchFamily="49" charset="0"/>
              </a:rPr>
              <a:t>A mátrix neve </a:t>
            </a:r>
            <a:r>
              <a:rPr lang="hu-HU" dirty="0" err="1">
                <a:cs typeface="Courier New" panose="02070309020205020404" pitchFamily="49" charset="0"/>
              </a:rPr>
              <a:t>mat</a:t>
            </a:r>
            <a:r>
              <a:rPr lang="hu-HU" dirty="0">
                <a:cs typeface="Courier New" panose="02070309020205020404" pitchFamily="49" charset="0"/>
              </a:rPr>
              <a:t>, sorok száma n, oszlopok száma m.</a:t>
            </a:r>
          </a:p>
          <a:p>
            <a:r>
              <a:rPr lang="hu-HU" dirty="0">
                <a:cs typeface="Courier New" panose="02070309020205020404" pitchFamily="49" charset="0"/>
              </a:rPr>
              <a:t>Sorfolytonosan:</a:t>
            </a:r>
            <a:br>
              <a:rPr lang="hu-HU" dirty="0">
                <a:cs typeface="Courier New" panose="02070309020205020404" pitchFamily="49" charset="0"/>
              </a:rPr>
            </a:br>
            <a:r>
              <a:rPr lang="hu-HU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 (i=0;i&lt;n;i++)</a:t>
            </a:r>
            <a:b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hu-HU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 (j=0;j&lt;m;j++)</a:t>
            </a:r>
            <a:b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				/*Az aktuális elem </a:t>
            </a:r>
            <a:r>
              <a:rPr lang="hu-HU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</a:t>
            </a: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[i,j]*/</a:t>
            </a:r>
          </a:p>
          <a:p>
            <a:r>
              <a:rPr lang="hu-HU" dirty="0" err="1">
                <a:cs typeface="Courier New" panose="02070309020205020404" pitchFamily="49" charset="0"/>
              </a:rPr>
              <a:t>Oszlopfolytonosan</a:t>
            </a:r>
            <a:r>
              <a:rPr lang="hu-HU" dirty="0">
                <a:cs typeface="Courier New" panose="02070309020205020404" pitchFamily="49" charset="0"/>
              </a:rPr>
              <a:t>:</a:t>
            </a:r>
            <a:br>
              <a:rPr lang="hu-HU" dirty="0">
                <a:cs typeface="Courier New" panose="02070309020205020404" pitchFamily="49" charset="0"/>
              </a:rPr>
            </a:br>
            <a:r>
              <a:rPr lang="hu-HU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 (j=0;j&lt;m;j++)</a:t>
            </a:r>
            <a:b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hu-HU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 (i=0;i&lt;n;i++)</a:t>
            </a:r>
            <a:b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				/*Az aktuális elem </a:t>
            </a:r>
            <a:r>
              <a:rPr lang="hu-HU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</a:t>
            </a: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[i,j]*/</a:t>
            </a:r>
          </a:p>
        </p:txBody>
      </p:sp>
    </p:spTree>
    <p:extLst>
      <p:ext uri="{BB962C8B-B14F-4D97-AF65-F5344CB8AC3E}">
        <p14:creationId xmlns:p14="http://schemas.microsoft.com/office/powerpoint/2010/main" val="39987974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7235" y="0"/>
            <a:ext cx="12057529" cy="6858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hu-HU" sz="2800" b="1" u="sng" dirty="0">
                <a:cs typeface="Times New Roman" panose="02020603050405020304" pitchFamily="18" charset="0"/>
              </a:rPr>
              <a:t>Feladat: </a:t>
            </a:r>
            <a:r>
              <a:rPr lang="hu-HU" sz="2800" dirty="0">
                <a:cs typeface="Times New Roman" panose="02020603050405020304" pitchFamily="18" charset="0"/>
              </a:rPr>
              <a:t>Töltsünk fel egy 10x10-es négyzetes mátrixot kétjegyű véletlen számokkal, és írassuk ki táblázatos formában!</a:t>
            </a:r>
          </a:p>
          <a:p>
            <a:pPr marL="0" indent="0">
              <a:buNone/>
            </a:pPr>
            <a:r>
              <a:rPr lang="hu-HU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  <a:br>
              <a:rPr lang="hu-HU" sz="3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Random r=</a:t>
            </a:r>
            <a:r>
              <a:rPr lang="hu-HU" sz="3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hu-HU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 Random();</a:t>
            </a:r>
            <a:br>
              <a:rPr lang="hu-HU" sz="3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int[,] m=</a:t>
            </a:r>
            <a:r>
              <a:rPr lang="hu-HU" sz="3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hu-HU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 int[10,</a:t>
            </a:r>
            <a:r>
              <a:rPr lang="hu-HU" sz="3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hu-HU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  <a:br>
              <a:rPr lang="hu-HU" sz="3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3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hu-HU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 (int i=0;i&lt;10;i++)</a:t>
            </a:r>
            <a:br>
              <a:rPr lang="hu-HU" sz="3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br>
              <a:rPr lang="hu-HU" sz="3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hu-HU" sz="3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hu-HU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 (int j=0;j&lt;10;j++)</a:t>
            </a:r>
            <a:br>
              <a:rPr lang="hu-HU" sz="3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			{</a:t>
            </a:r>
            <a:br>
              <a:rPr lang="hu-HU" sz="3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					m[i,j]=</a:t>
            </a:r>
            <a:r>
              <a:rPr lang="hu-HU" sz="3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r.Next</a:t>
            </a:r>
            <a:r>
              <a:rPr lang="hu-HU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(10,100);</a:t>
            </a:r>
            <a:br>
              <a:rPr lang="hu-HU" sz="3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					</a:t>
            </a:r>
            <a:r>
              <a:rPr lang="hu-HU" sz="3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Console.Write</a:t>
            </a:r>
            <a:r>
              <a:rPr lang="hu-HU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hu-HU" sz="3000" dirty="0"/>
              <a:t>"</a:t>
            </a:r>
            <a:r>
              <a:rPr lang="hu-HU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{0} </a:t>
            </a:r>
            <a:r>
              <a:rPr lang="hu-HU" sz="3000" dirty="0"/>
              <a:t>"</a:t>
            </a:r>
            <a:r>
              <a:rPr lang="hu-HU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,m[i,j]);</a:t>
            </a:r>
            <a:br>
              <a:rPr lang="hu-HU" sz="3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			}</a:t>
            </a:r>
            <a:br>
              <a:rPr lang="hu-HU" sz="3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3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hu-HU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br>
              <a:rPr lang="hu-HU" sz="3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br>
              <a:rPr lang="hu-HU" sz="3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340911947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Égi">
  <a:themeElements>
    <a:clrScheme name="Égi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Égi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Égi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TC103457452[[fn=Égi]]</Template>
  <TotalTime>1070</TotalTime>
  <Words>492</Words>
  <Application>Microsoft Office PowerPoint</Application>
  <PresentationFormat>Szélesvásznú</PresentationFormat>
  <Paragraphs>64</Paragraphs>
  <Slides>5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Courier New</vt:lpstr>
      <vt:lpstr>Égi</vt:lpstr>
      <vt:lpstr>Mátrixok</vt:lpstr>
      <vt:lpstr>PowerPoint-bemutató</vt:lpstr>
      <vt:lpstr>Példa speciális négyzetes mátrixra</vt:lpstr>
      <vt:lpstr>Mátrixok végigolvasása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Ciklusok a C# nyelvben</dc:title>
  <dc:creator>Péter Miklós</dc:creator>
  <cp:lastModifiedBy>Miklós Péter</cp:lastModifiedBy>
  <cp:revision>398</cp:revision>
  <dcterms:created xsi:type="dcterms:W3CDTF">2014-11-05T16:55:57Z</dcterms:created>
  <dcterms:modified xsi:type="dcterms:W3CDTF">2020-01-28T19:44:42Z</dcterms:modified>
</cp:coreProperties>
</file>