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10"/>
  </p:handoutMasterIdLst>
  <p:sldIdLst>
    <p:sldId id="305" r:id="rId2"/>
    <p:sldId id="306" r:id="rId3"/>
    <p:sldId id="307" r:id="rId4"/>
    <p:sldId id="308" r:id="rId5"/>
    <p:sldId id="309" r:id="rId6"/>
    <p:sldId id="310" r:id="rId7"/>
    <p:sldId id="311" r:id="rId8"/>
    <p:sldId id="31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2020. 11. 12.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Függvények és ELJÁRÁSOK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r>
              <a:rPr lang="hu-HU" b="1" u="sng" dirty="0">
                <a:cs typeface="Courier New" panose="02070309020205020404" pitchFamily="49" charset="0"/>
              </a:rPr>
              <a:t>Függvény:</a:t>
            </a:r>
            <a:r>
              <a:rPr lang="hu-HU" dirty="0">
                <a:cs typeface="Courier New" panose="02070309020205020404" pitchFamily="49" charset="0"/>
              </a:rPr>
              <a:t> Olyan programrészlet, amely bemenő paraméterek segítségével egy értéket állít elő.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Eljárás: </a:t>
            </a:r>
            <a:r>
              <a:rPr lang="hu-HU" dirty="0">
                <a:cs typeface="Courier New" panose="02070309020205020404" pitchFamily="49" charset="0"/>
              </a:rPr>
              <a:t>Olyan programrészlet, amely valamilyen résztevékenységet hajt végre.</a:t>
            </a:r>
          </a:p>
          <a:p>
            <a:r>
              <a:rPr lang="hu-HU" dirty="0">
                <a:cs typeface="Courier New" panose="02070309020205020404" pitchFamily="49" charset="0"/>
              </a:rPr>
              <a:t>Összefoglaló néven </a:t>
            </a:r>
            <a:r>
              <a:rPr lang="hu-HU" b="1" dirty="0">
                <a:cs typeface="Courier New" panose="02070309020205020404" pitchFamily="49" charset="0"/>
              </a:rPr>
              <a:t>alprogramnak</a:t>
            </a:r>
            <a:r>
              <a:rPr lang="hu-HU" dirty="0">
                <a:cs typeface="Courier New" panose="02070309020205020404" pitchFamily="49" charset="0"/>
              </a:rPr>
              <a:t> nevezzük, illetve </a:t>
            </a:r>
            <a:r>
              <a:rPr lang="hu-HU" b="1" dirty="0">
                <a:cs typeface="Courier New" panose="02070309020205020404" pitchFamily="49" charset="0"/>
              </a:rPr>
              <a:t>metódusnak</a:t>
            </a:r>
            <a:r>
              <a:rPr lang="hu-HU" dirty="0">
                <a:cs typeface="Courier New" panose="02070309020205020404" pitchFamily="49" charset="0"/>
              </a:rPr>
              <a:t>. (lásd később objektum orientált programozás)</a:t>
            </a:r>
          </a:p>
          <a:p>
            <a:r>
              <a:rPr lang="hu-HU" dirty="0">
                <a:cs typeface="Courier New" panose="02070309020205020404" pitchFamily="49" charset="0"/>
              </a:rPr>
              <a:t>Akkor használjuk, hogy egy programrészletet külön szeretnénk megvalósítani a jobb átláthatóság vagy újrahasznosíthatóság miatt, illetve osztályoknál kell használni.</a:t>
            </a:r>
          </a:p>
        </p:txBody>
      </p:sp>
    </p:spTree>
    <p:extLst>
      <p:ext uri="{BB962C8B-B14F-4D97-AF65-F5344CB8AC3E}">
        <p14:creationId xmlns:p14="http://schemas.microsoft.com/office/powerpoint/2010/main" val="96576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Függvény deklarálása C#</a:t>
            </a:r>
            <a:r>
              <a:rPr lang="hu-HU" dirty="0" err="1"/>
              <a:t>-ban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Autofit/>
          </a:bodyPr>
          <a:lstStyle/>
          <a:p>
            <a:r>
              <a:rPr lang="hu-HU" sz="2800" dirty="0">
                <a:cs typeface="Courier New" panose="02070309020205020404" pitchFamily="49" charset="0"/>
              </a:rPr>
              <a:t>Osztályon (</a:t>
            </a:r>
            <a:r>
              <a:rPr lang="hu-HU" sz="2800" dirty="0" err="1">
                <a:cs typeface="Courier New" panose="02070309020205020404" pitchFamily="49" charset="0"/>
              </a:rPr>
              <a:t>class</a:t>
            </a:r>
            <a:r>
              <a:rPr lang="hu-HU" sz="2800" dirty="0">
                <a:cs typeface="Courier New" panose="02070309020205020404" pitchFamily="49" charset="0"/>
              </a:rPr>
              <a:t>) belül tudjuk megadni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módosító visszatérési_típus függvénynév(típus1 név1, típus2 név2,…)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törzs; </a:t>
            </a:r>
            <a:r>
              <a:rPr lang="hu-HU" sz="2800" dirty="0">
                <a:cs typeface="Courier New" panose="02070309020205020404" pitchFamily="49" charset="0"/>
              </a:rPr>
              <a:t>//</a:t>
            </a:r>
            <a:r>
              <a:rPr lang="hu-HU" sz="2800">
                <a:cs typeface="Courier New" panose="02070309020205020404" pitchFamily="49" charset="0"/>
              </a:rPr>
              <a:t>valahol szerepelnie </a:t>
            </a:r>
            <a:r>
              <a:rPr lang="hu-HU" sz="2800" dirty="0">
                <a:cs typeface="Courier New" panose="02070309020205020404" pitchFamily="49" charset="0"/>
              </a:rPr>
              <a:t>kell </a:t>
            </a:r>
            <a:r>
              <a:rPr lang="hu-HU" sz="2800" dirty="0" err="1">
                <a:cs typeface="Courier New" panose="02070309020205020404" pitchFamily="49" charset="0"/>
              </a:rPr>
              <a:t>return</a:t>
            </a:r>
            <a:r>
              <a:rPr lang="hu-HU" sz="2800" dirty="0">
                <a:cs typeface="Courier New" panose="02070309020205020404" pitchFamily="49" charset="0"/>
              </a:rPr>
              <a:t> utasításnak</a:t>
            </a:r>
            <a:br>
              <a:rPr lang="hu-HU" sz="2800" dirty="0"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módosító</a:t>
            </a:r>
            <a:r>
              <a:rPr lang="hu-HU" sz="2800" dirty="0">
                <a:cs typeface="Courier New" panose="02070309020205020404" pitchFamily="49" charset="0"/>
              </a:rPr>
              <a:t>: lásd korábban.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A törzsben szerepelnie kell valahol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hu-HU" sz="2800" dirty="0">
                <a:cs typeface="Courier New" panose="02070309020205020404" pitchFamily="49" charset="0"/>
              </a:rPr>
              <a:t> utasításnak, amely segítségével a függvény értéket kap. Ennek az utasításnak a kiadásával a függvény az adott ponton be is fejeződik. Alakja: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hu-HU" sz="2800" dirty="0">
                <a:cs typeface="Courier New" panose="02070309020205020404" pitchFamily="49" charset="0"/>
              </a:rPr>
              <a:t> kifejezés;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A függvény neve után a ()</a:t>
            </a:r>
            <a:r>
              <a:rPr lang="hu-HU" sz="2800" dirty="0" err="1">
                <a:cs typeface="Courier New" panose="02070309020205020404" pitchFamily="49" charset="0"/>
              </a:rPr>
              <a:t>-ben</a:t>
            </a:r>
            <a:r>
              <a:rPr lang="hu-HU" sz="2800" dirty="0">
                <a:cs typeface="Courier New" panose="02070309020205020404" pitchFamily="49" charset="0"/>
              </a:rPr>
              <a:t> szereplő változókat paraméternek nevezzük.</a:t>
            </a:r>
          </a:p>
        </p:txBody>
      </p:sp>
    </p:spTree>
    <p:extLst>
      <p:ext uri="{BB962C8B-B14F-4D97-AF65-F5344CB8AC3E}">
        <p14:creationId xmlns:p14="http://schemas.microsoft.com/office/powerpoint/2010/main" val="334839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ELJÁRÁS deklarálása C#</a:t>
            </a:r>
            <a:r>
              <a:rPr lang="hu-HU" dirty="0" err="1"/>
              <a:t>-ban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módosító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eljárásnév(típus1 név1, típus2 név2,…)</a:t>
            </a:r>
          </a:p>
          <a:p>
            <a:pPr mar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törzs;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dirty="0">
                <a:cs typeface="Courier New" panose="02070309020205020404" pitchFamily="49" charset="0"/>
              </a:rPr>
              <a:t>Itt nem szükséges a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hu-HU" dirty="0">
                <a:cs typeface="Courier New" panose="02070309020205020404" pitchFamily="49" charset="0"/>
              </a:rPr>
              <a:t> utasítás. (Ha használjuk, akkor ahol leírjuk, ott befejeződik az eljárás működése)</a:t>
            </a:r>
          </a:p>
          <a:p>
            <a:r>
              <a:rPr lang="hu-HU" dirty="0">
                <a:cs typeface="Courier New" panose="02070309020205020404" pitchFamily="49" charset="0"/>
              </a:rPr>
              <a:t>Az eljárás tulajdonképpen egy olyan függvény, amelynek nincs visszatérési értéke.</a:t>
            </a:r>
          </a:p>
          <a:p>
            <a:endParaRPr lang="hu-HU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82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FÜGGVÉNYRE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 fontScale="92500" lnSpcReduction="20000"/>
          </a:bodyPr>
          <a:lstStyle/>
          <a:p>
            <a:r>
              <a:rPr lang="hu-HU" dirty="0">
                <a:cs typeface="Courier New" panose="02070309020205020404" pitchFamily="49" charset="0"/>
              </a:rPr>
              <a:t>Írjunk függvényt, amely egy szám faktoriálisát számolja ki:</a:t>
            </a:r>
          </a:p>
          <a:p>
            <a:pPr marL="0" indent="0">
              <a:buNone/>
            </a:pP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faktoriális(int n)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f=1;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(int i=2;i&lt;=n;i++)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		f*=i;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f;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dirty="0">
                <a:cs typeface="Courier New" panose="02070309020205020404" pitchFamily="49" charset="0"/>
              </a:rPr>
              <a:t>A függvény meghívása:</a:t>
            </a:r>
            <a:br>
              <a:rPr lang="hu-HU" dirty="0"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int szám=10;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(”A faktoriális értéke: {0}”, faktoriális(szám));</a:t>
            </a:r>
          </a:p>
        </p:txBody>
      </p:sp>
    </p:spTree>
    <p:extLst>
      <p:ext uri="{BB962C8B-B14F-4D97-AF65-F5344CB8AC3E}">
        <p14:creationId xmlns:p14="http://schemas.microsoft.com/office/powerpoint/2010/main" val="1093263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ELJÁRÁSRA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r>
              <a:rPr lang="hu-HU" dirty="0">
                <a:cs typeface="Courier New" panose="02070309020205020404" pitchFamily="49" charset="0"/>
              </a:rPr>
              <a:t>Írjunk eljárást, amely egy kiír két megadott számot pontosvesszővel elválasztva:</a:t>
            </a:r>
          </a:p>
          <a:p>
            <a:pPr marL="0" indent="0">
              <a:buNone/>
            </a:pP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kiírás(int n, int m)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(”{0};{1}”,n,m);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dirty="0">
                <a:cs typeface="Courier New" panose="02070309020205020404" pitchFamily="49" charset="0"/>
              </a:rPr>
              <a:t>Meghívás:</a:t>
            </a:r>
            <a:br>
              <a:rPr lang="hu-HU" dirty="0"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int a=10, b=5;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kiírás(a,b); //A kiírás eredménye 10;5 lesz</a:t>
            </a:r>
          </a:p>
        </p:txBody>
      </p:sp>
    </p:spTree>
    <p:extLst>
      <p:ext uri="{BB962C8B-B14F-4D97-AF65-F5344CB8AC3E}">
        <p14:creationId xmlns:p14="http://schemas.microsoft.com/office/powerpoint/2010/main" val="3665856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PARAMÉTERÁTADÁS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 fontScale="92500" lnSpcReduction="10000"/>
          </a:bodyPr>
          <a:lstStyle/>
          <a:p>
            <a:r>
              <a:rPr lang="hu-HU" sz="3500" b="1" u="sng" dirty="0">
                <a:cs typeface="Courier New" panose="02070309020205020404" pitchFamily="49" charset="0"/>
              </a:rPr>
              <a:t>Formális paraméter: </a:t>
            </a:r>
            <a:r>
              <a:rPr lang="hu-HU" sz="3500" dirty="0">
                <a:cs typeface="Courier New" panose="02070309020205020404" pitchFamily="49" charset="0"/>
              </a:rPr>
              <a:t>A metódus definíciójánál megadott paraméter.</a:t>
            </a:r>
          </a:p>
          <a:p>
            <a:r>
              <a:rPr lang="hu-HU" sz="3500" b="1" u="sng" dirty="0">
                <a:cs typeface="Courier New" panose="02070309020205020404" pitchFamily="49" charset="0"/>
              </a:rPr>
              <a:t>Aktuális paraméter: </a:t>
            </a:r>
            <a:r>
              <a:rPr lang="hu-HU" sz="3500" dirty="0">
                <a:cs typeface="Courier New" panose="02070309020205020404" pitchFamily="49" charset="0"/>
              </a:rPr>
              <a:t>A metódus meghívásánál megadott paraméter.</a:t>
            </a:r>
          </a:p>
          <a:p>
            <a:r>
              <a:rPr lang="hu-HU" sz="3500" b="1" u="sng" dirty="0">
                <a:cs typeface="Courier New" panose="02070309020205020404" pitchFamily="49" charset="0"/>
              </a:rPr>
              <a:t>Paraméterátadás: </a:t>
            </a:r>
            <a:r>
              <a:rPr lang="hu-HU" sz="3500" dirty="0">
                <a:cs typeface="Courier New" panose="02070309020205020404" pitchFamily="49" charset="0"/>
              </a:rPr>
              <a:t>A folyamat, amikor a metódus meghívásakor a lefutásnál az aktuális paraméter hozzárendelődik a formális paraméterhez.</a:t>
            </a:r>
          </a:p>
          <a:p>
            <a:r>
              <a:rPr lang="hu-HU" sz="3500" b="1" i="1" u="sng" dirty="0">
                <a:cs typeface="Courier New" panose="02070309020205020404" pitchFamily="49" charset="0"/>
              </a:rPr>
              <a:t>Átadási módok:</a:t>
            </a:r>
          </a:p>
          <a:p>
            <a:pPr lvl="1"/>
            <a:r>
              <a:rPr lang="hu-HU" u="sng" dirty="0">
                <a:cs typeface="Courier New" panose="02070309020205020404" pitchFamily="49" charset="0"/>
              </a:rPr>
              <a:t>Érték szerint:</a:t>
            </a:r>
            <a:r>
              <a:rPr lang="hu-HU" dirty="0">
                <a:cs typeface="Courier New" panose="02070309020205020404" pitchFamily="49" charset="0"/>
              </a:rPr>
              <a:t> Az aktuális paraméternek csak az értéke adódik át.</a:t>
            </a:r>
          </a:p>
          <a:p>
            <a:pPr lvl="1"/>
            <a:r>
              <a:rPr lang="hu-HU" u="sng" dirty="0">
                <a:cs typeface="Courier New" panose="02070309020205020404" pitchFamily="49" charset="0"/>
              </a:rPr>
              <a:t>Cím szerinti:</a:t>
            </a:r>
            <a:r>
              <a:rPr lang="hu-HU" dirty="0">
                <a:cs typeface="Courier New" panose="02070309020205020404" pitchFamily="49" charset="0"/>
              </a:rPr>
              <a:t> Az aktuális paraméternek a címe adódik át, ennek a segítségével a metódus lefutása után módosul az értéke a paraméternek.</a:t>
            </a:r>
          </a:p>
          <a:p>
            <a:pPr lvl="1"/>
            <a:r>
              <a:rPr lang="hu-HU" u="sng" dirty="0">
                <a:cs typeface="Courier New" panose="02070309020205020404" pitchFamily="49" charset="0"/>
              </a:rPr>
              <a:t>Eredmény szerinti:</a:t>
            </a:r>
            <a:r>
              <a:rPr lang="hu-HU" dirty="0">
                <a:cs typeface="Courier New" panose="02070309020205020404" pitchFamily="49" charset="0"/>
              </a:rPr>
              <a:t> A metódus lefutása után a paraméterbe egy új érték kerül.</a:t>
            </a:r>
          </a:p>
        </p:txBody>
      </p:sp>
    </p:spTree>
    <p:extLst>
      <p:ext uri="{BB962C8B-B14F-4D97-AF65-F5344CB8AC3E}">
        <p14:creationId xmlns:p14="http://schemas.microsoft.com/office/powerpoint/2010/main" val="324061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PARAMÉTERÁTADÁS C#</a:t>
            </a:r>
            <a:r>
              <a:rPr lang="hu-HU" dirty="0" err="1"/>
              <a:t>-ban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r>
              <a:rPr lang="hu-HU" b="1" u="sng" dirty="0">
                <a:cs typeface="Courier New" panose="02070309020205020404" pitchFamily="49" charset="0"/>
              </a:rPr>
              <a:t>Érték szerinti:</a:t>
            </a:r>
            <a:r>
              <a:rPr lang="hu-HU" b="1" dirty="0">
                <a:cs typeface="Courier New" panose="02070309020205020404" pitchFamily="49" charset="0"/>
              </a:rPr>
              <a:t> </a:t>
            </a:r>
            <a:r>
              <a:rPr lang="hu-HU" dirty="0">
                <a:cs typeface="Courier New" panose="02070309020205020404" pitchFamily="49" charset="0"/>
              </a:rPr>
              <a:t>Alapértelmezés szerint így történik, csak az érték adódik át.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Cím szerinti:</a:t>
            </a:r>
            <a:r>
              <a:rPr lang="hu-HU" b="1" dirty="0">
                <a:cs typeface="Courier New" panose="02070309020205020404" pitchFamily="49" charset="0"/>
              </a:rPr>
              <a:t> </a:t>
            </a:r>
            <a:r>
              <a:rPr lang="hu-HU" dirty="0">
                <a:cs typeface="Courier New" panose="02070309020205020404" pitchFamily="49" charset="0"/>
              </a:rPr>
              <a:t>A paraméter típusa elé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</a:t>
            </a:r>
            <a:r>
              <a:rPr lang="hu-HU" dirty="0">
                <a:cs typeface="Courier New" panose="02070309020205020404" pitchFamily="49" charset="0"/>
              </a:rPr>
              <a:t> van írva. A metódus meghívásánál is oda kell írni.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Eredmény szerinti:</a:t>
            </a:r>
            <a:r>
              <a:rPr lang="hu-HU" b="1" dirty="0">
                <a:cs typeface="Courier New" panose="02070309020205020404" pitchFamily="49" charset="0"/>
              </a:rPr>
              <a:t> </a:t>
            </a:r>
            <a:r>
              <a:rPr lang="hu-HU" dirty="0">
                <a:cs typeface="Courier New" panose="02070309020205020404" pitchFamily="49" charset="0"/>
              </a:rPr>
              <a:t>Itt az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hu-HU" dirty="0">
                <a:cs typeface="Courier New" panose="02070309020205020404" pitchFamily="49" charset="0"/>
              </a:rPr>
              <a:t> van elé írva. Meghívásnál szintén oda kell írni. Akkor lehet hasznos, ha pl. több értéket szeretnénk visszaadni.</a:t>
            </a:r>
          </a:p>
        </p:txBody>
      </p:sp>
    </p:spTree>
    <p:extLst>
      <p:ext uri="{BB962C8B-B14F-4D97-AF65-F5344CB8AC3E}">
        <p14:creationId xmlns:p14="http://schemas.microsoft.com/office/powerpoint/2010/main" val="3030037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960929" cy="660400"/>
          </a:xfrm>
        </p:spPr>
        <p:txBody>
          <a:bodyPr>
            <a:noAutofit/>
          </a:bodyPr>
          <a:lstStyle/>
          <a:p>
            <a:r>
              <a:rPr lang="hu-HU" sz="3200" dirty="0"/>
              <a:t>CÍM szerinti, eredmény szerinti paraméterátadás 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6449475" cy="60437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csere(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int x,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int y)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int t=x;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=y;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=t;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 a=6, b=5;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csere(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b);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//a értéke 5, b értéke 6 lesz</a:t>
            </a:r>
          </a:p>
        </p:txBody>
      </p:sp>
      <p:sp>
        <p:nvSpPr>
          <p:cNvPr id="4" name="Tartalom helye 2"/>
          <p:cNvSpPr txBox="1">
            <a:spLocks/>
          </p:cNvSpPr>
          <p:nvPr/>
        </p:nvSpPr>
        <p:spPr>
          <a:xfrm>
            <a:off x="6516710" y="206062"/>
            <a:ext cx="5444219" cy="6498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3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3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kezdő(int a, int b, out int n)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=(a+b)/2;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 a=3, b=5, x;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kezdő(a, b, out x);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értéke 4 lesz</a:t>
            </a:r>
          </a:p>
        </p:txBody>
      </p:sp>
      <p:cxnSp>
        <p:nvCxnSpPr>
          <p:cNvPr id="6" name="Egyenes összekötő 5"/>
          <p:cNvCxnSpPr/>
          <p:nvPr/>
        </p:nvCxnSpPr>
        <p:spPr>
          <a:xfrm flipH="1">
            <a:off x="6400800" y="660400"/>
            <a:ext cx="25758" cy="6197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87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1133</TotalTime>
  <Words>660</Words>
  <Application>Microsoft Office PowerPoint</Application>
  <PresentationFormat>Szélesvásznú</PresentationFormat>
  <Paragraphs>41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Égi</vt:lpstr>
      <vt:lpstr>Függvények és ELJÁRÁSOK</vt:lpstr>
      <vt:lpstr>Függvény deklarálása C#-ban</vt:lpstr>
      <vt:lpstr>ELJÁRÁS deklarálása C#-ban</vt:lpstr>
      <vt:lpstr>PÉLDA FÜGGVÉNYRE</vt:lpstr>
      <vt:lpstr>PÉLDA ELJÁRÁSRA</vt:lpstr>
      <vt:lpstr>PARAMÉTERÁTADÁS</vt:lpstr>
      <vt:lpstr>PARAMÉTERÁTADÁS C#-ban</vt:lpstr>
      <vt:lpstr>CÍM szerinti, eredmény szerinti paraméterátadás példa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miklos.peter@sulid.hu</cp:lastModifiedBy>
  <cp:revision>439</cp:revision>
  <dcterms:created xsi:type="dcterms:W3CDTF">2014-11-05T16:55:57Z</dcterms:created>
  <dcterms:modified xsi:type="dcterms:W3CDTF">2020-11-12T12:01:51Z</dcterms:modified>
</cp:coreProperties>
</file>