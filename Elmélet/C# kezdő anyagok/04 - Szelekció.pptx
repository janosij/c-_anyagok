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handoutMasterIdLst>
    <p:handoutMasterId r:id="rId12"/>
  </p:handoutMasterIdLst>
  <p:sldIdLst>
    <p:sldId id="279" r:id="rId2"/>
    <p:sldId id="280" r:id="rId3"/>
    <p:sldId id="281" r:id="rId4"/>
    <p:sldId id="282" r:id="rId5"/>
    <p:sldId id="284" r:id="rId6"/>
    <p:sldId id="287" r:id="rId7"/>
    <p:sldId id="285" r:id="rId8"/>
    <p:sldId id="283" r:id="rId9"/>
    <p:sldId id="286" r:id="rId10"/>
    <p:sldId id="28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1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60BE-C4F1-405D-B022-EC73AF30A1CB}" type="datetimeFigureOut">
              <a:rPr lang="hu-HU" smtClean="0"/>
              <a:pPr/>
              <a:t>2022. 01. 26.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1FD9-8148-4354-8614-90D9F03A142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1544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6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54000"/>
            <a:ext cx="10131425" cy="1456267"/>
          </a:xfrm>
        </p:spPr>
        <p:txBody>
          <a:bodyPr/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10267"/>
            <a:ext cx="10131425" cy="5020733"/>
          </a:xfrm>
        </p:spPr>
        <p:txBody>
          <a:bodyPr anchor="ctr"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85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477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01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1/26/2022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255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12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1/26/2022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977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24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69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9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038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093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24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64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275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979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687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127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583267"/>
            <a:ext cx="10131425" cy="513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 bldLvl="2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>
            <a:normAutofit/>
          </a:bodyPr>
          <a:lstStyle/>
          <a:p>
            <a:r>
              <a:rPr lang="hu-HU" dirty="0"/>
              <a:t>Szelekció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3032" y="1068947"/>
            <a:ext cx="8244134" cy="54992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200" b="1" dirty="0"/>
              <a:t>Szintaktikája mondatszerű leírásban: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HA feltétel AKKOR</a:t>
            </a:r>
          </a:p>
          <a:p>
            <a:pPr marL="0" indent="0">
              <a:buNone/>
            </a:pPr>
            <a:r>
              <a:rPr lang="hu-HU" sz="3200" b="1" dirty="0"/>
              <a:t>		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utasítás1</a:t>
            </a:r>
            <a:r>
              <a:rPr lang="hu-HU" sz="3200" b="1" dirty="0"/>
              <a:t>			&lt;</a:t>
            </a:r>
            <a:r>
              <a:rPr lang="hu-HU" sz="3200" b="1" dirty="0" err="1"/>
              <a:t>-Ha</a:t>
            </a:r>
            <a:r>
              <a:rPr lang="hu-HU" sz="3200" b="1" dirty="0"/>
              <a:t> a feltétel IGAZ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KÜLÖNBEN</a:t>
            </a:r>
            <a:r>
              <a:rPr lang="hu-HU" sz="3200" b="1" dirty="0"/>
              <a:t> </a:t>
            </a:r>
            <a:r>
              <a:rPr lang="hu-HU" sz="2400" b="1" dirty="0"/>
              <a:t>(elhagyható ág )</a:t>
            </a:r>
            <a:r>
              <a:rPr lang="hu-HU" sz="3200" b="1" dirty="0"/>
              <a:t>	 &lt;-Ha a feltétel HAMIS </a:t>
            </a:r>
          </a:p>
          <a:p>
            <a:pPr marL="0" indent="0">
              <a:buNone/>
            </a:pPr>
            <a:r>
              <a:rPr lang="hu-HU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utasítás2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ELÁGAZÁS VÉGE</a:t>
            </a:r>
          </a:p>
          <a:p>
            <a:pPr marL="0" indent="0">
              <a:buNone/>
            </a:pPr>
            <a:r>
              <a:rPr lang="hu-HU" sz="3200" b="1" dirty="0"/>
              <a:t>A feltétel mindig logikai kifejezés</a:t>
            </a:r>
          </a:p>
        </p:txBody>
      </p:sp>
      <p:sp>
        <p:nvSpPr>
          <p:cNvPr id="4" name="Folyamatábra: Döntés 3"/>
          <p:cNvSpPr/>
          <p:nvPr/>
        </p:nvSpPr>
        <p:spPr>
          <a:xfrm>
            <a:off x="8218009" y="1029759"/>
            <a:ext cx="1423851" cy="1689707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Fel-tétel</a:t>
            </a:r>
          </a:p>
        </p:txBody>
      </p:sp>
      <p:sp>
        <p:nvSpPr>
          <p:cNvPr id="5" name="Téglalap 4"/>
          <p:cNvSpPr/>
          <p:nvPr/>
        </p:nvSpPr>
        <p:spPr>
          <a:xfrm>
            <a:off x="8198239" y="3227527"/>
            <a:ext cx="1443622" cy="5476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utasítás1</a:t>
            </a:r>
          </a:p>
        </p:txBody>
      </p:sp>
      <p:sp>
        <p:nvSpPr>
          <p:cNvPr id="6" name="Téglalap 5"/>
          <p:cNvSpPr/>
          <p:nvPr/>
        </p:nvSpPr>
        <p:spPr>
          <a:xfrm>
            <a:off x="10190649" y="3226249"/>
            <a:ext cx="1356917" cy="5489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utasítás2</a:t>
            </a:r>
          </a:p>
        </p:txBody>
      </p:sp>
      <p:sp>
        <p:nvSpPr>
          <p:cNvPr id="10" name="Jobbra nyíl 9"/>
          <p:cNvSpPr/>
          <p:nvPr/>
        </p:nvSpPr>
        <p:spPr>
          <a:xfrm rot="5400000">
            <a:off x="8636711" y="2847906"/>
            <a:ext cx="518484" cy="26160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Jobbra nyíl 10"/>
          <p:cNvSpPr/>
          <p:nvPr/>
        </p:nvSpPr>
        <p:spPr>
          <a:xfrm rot="5400000">
            <a:off x="10092930" y="2421747"/>
            <a:ext cx="1330771" cy="30163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Mínuszjel 13"/>
          <p:cNvSpPr/>
          <p:nvPr/>
        </p:nvSpPr>
        <p:spPr>
          <a:xfrm>
            <a:off x="9406524" y="1678669"/>
            <a:ext cx="1631590" cy="411388"/>
          </a:xfrm>
          <a:prstGeom prst="mathMin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Jobbra nyíl 15"/>
          <p:cNvSpPr/>
          <p:nvPr/>
        </p:nvSpPr>
        <p:spPr>
          <a:xfrm rot="5400000">
            <a:off x="8166389" y="4312525"/>
            <a:ext cx="1426881" cy="29385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Mínuszjel 17"/>
          <p:cNvSpPr/>
          <p:nvPr/>
        </p:nvSpPr>
        <p:spPr>
          <a:xfrm rot="5400000">
            <a:off x="10220549" y="3841231"/>
            <a:ext cx="1170405" cy="604642"/>
          </a:xfrm>
          <a:prstGeom prst="mathMin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Jobbra nyíl 18"/>
          <p:cNvSpPr/>
          <p:nvPr/>
        </p:nvSpPr>
        <p:spPr>
          <a:xfrm rot="10800000">
            <a:off x="9026757" y="4395333"/>
            <a:ext cx="1842350" cy="33342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Szövegdoboz 19"/>
          <p:cNvSpPr txBox="1"/>
          <p:nvPr/>
        </p:nvSpPr>
        <p:spPr>
          <a:xfrm>
            <a:off x="9001207" y="2744814"/>
            <a:ext cx="666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</a:t>
            </a:r>
          </a:p>
        </p:txBody>
      </p:sp>
      <p:sp>
        <p:nvSpPr>
          <p:cNvPr id="21" name="Szövegdoboz 20"/>
          <p:cNvSpPr txBox="1"/>
          <p:nvPr/>
        </p:nvSpPr>
        <p:spPr>
          <a:xfrm>
            <a:off x="9857546" y="1401047"/>
            <a:ext cx="666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h</a:t>
            </a:r>
          </a:p>
        </p:txBody>
      </p:sp>
      <p:sp>
        <p:nvSpPr>
          <p:cNvPr id="8" name="Ellipszis 7"/>
          <p:cNvSpPr/>
          <p:nvPr/>
        </p:nvSpPr>
        <p:spPr>
          <a:xfrm>
            <a:off x="8819286" y="4471083"/>
            <a:ext cx="181921" cy="18192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465842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1" grpId="0" animBg="1"/>
      <p:bldP spid="14" grpId="0" animBg="1"/>
      <p:bldP spid="16" grpId="0" animBg="1"/>
      <p:bldP spid="18" grpId="0" animBg="1"/>
      <p:bldP spid="19" grpId="0" animBg="1"/>
      <p:bldP spid="20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>
            <a:normAutofit/>
          </a:bodyPr>
          <a:lstStyle/>
          <a:p>
            <a:r>
              <a:rPr lang="hu-HU" dirty="0"/>
              <a:t>Szelekció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3031" y="1068947"/>
            <a:ext cx="11640477" cy="54992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200" b="1" dirty="0"/>
              <a:t>Szemantika:</a:t>
            </a:r>
          </a:p>
          <a:p>
            <a:r>
              <a:rPr lang="hu-HU" sz="3200" dirty="0"/>
              <a:t>Kiértékelődik a feltétel</a:t>
            </a:r>
          </a:p>
          <a:p>
            <a:pPr lvl="1"/>
            <a:r>
              <a:rPr lang="hu-HU" sz="2800" dirty="0"/>
              <a:t>Ha a feltétel IGAZ, akkor az IGAZ ágban lévő utasítás hajtódik végre,</a:t>
            </a:r>
          </a:p>
          <a:p>
            <a:pPr lvl="1"/>
            <a:r>
              <a:rPr lang="hu-HU" sz="2800" dirty="0"/>
              <a:t>Ha létezik HAMIS ág, és a feltétel HAMIS, akkor a HAMIS ágban lévő utasítás hajtódik végre,</a:t>
            </a:r>
          </a:p>
          <a:p>
            <a:r>
              <a:rPr lang="hu-HU" sz="3200" dirty="0"/>
              <a:t>Majd a feltételes utasítás utáni utasítással folytatódik az algoritmus</a:t>
            </a:r>
          </a:p>
        </p:txBody>
      </p:sp>
    </p:spTree>
    <p:extLst>
      <p:ext uri="{BB962C8B-B14F-4D97-AF65-F5344CB8AC3E}">
        <p14:creationId xmlns:p14="http://schemas.microsoft.com/office/powerpoint/2010/main" val="29910884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>
            <a:normAutofit/>
          </a:bodyPr>
          <a:lstStyle/>
          <a:p>
            <a:r>
              <a:rPr lang="hu-HU" dirty="0"/>
              <a:t>PÉLDA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103031" y="1068947"/>
                <a:ext cx="6683933" cy="5499278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hu-HU" sz="3200" b="1" dirty="0"/>
                  <a:t>Írj algoritmust, amely beolvas egy számot, és</a:t>
                </a:r>
              </a:p>
              <a:p>
                <a:pPr marL="0" indent="0">
                  <a:buNone/>
                </a:pPr>
                <a:r>
                  <a:rPr lang="hu-HU" sz="3200" b="1" dirty="0"/>
                  <a:t>kiírja a szám abszolútértékét!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hu-HU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hu-H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hu-HU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hu-HU" sz="3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hu-HU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hu-HU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nor/>
                                </m:rPr>
                                <a:rPr lang="hu-HU" sz="3200" i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hu-HU" sz="3200" i="0" smtClean="0">
                                  <a:latin typeface="Cambria Math" panose="02040503050406030204" pitchFamily="18" charset="0"/>
                                </a:rPr>
                                <m:t>ha</m:t>
                              </m:r>
                              <m:r>
                                <m:rPr>
                                  <m:nor/>
                                </m:rPr>
                                <a:rPr lang="hu-HU" sz="320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hu-HU" sz="320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hu-HU" sz="3200" i="0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hu-HU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nor/>
                                </m:rPr>
                                <a:rPr lang="hu-HU" sz="3200" i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hu-HU" sz="3200" i="0" smtClean="0">
                                  <a:latin typeface="Cambria Math" panose="02040503050406030204" pitchFamily="18" charset="0"/>
                                </a:rPr>
                                <m:t>ha</m:t>
                              </m:r>
                              <m:r>
                                <m:rPr>
                                  <m:nor/>
                                </m:rPr>
                                <a:rPr lang="hu-HU" sz="320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hu-HU" sz="320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hu-HU" sz="3200" i="0" smtClean="0">
                                  <a:latin typeface="Cambria Math" panose="02040503050406030204" pitchFamily="18" charset="0"/>
                                </a:rPr>
                                <m:t>&gt;=0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hu-HU" sz="3200" dirty="0"/>
              </a:p>
              <a:p>
                <a:pPr marL="0" indent="0">
                  <a:buNone/>
                </a:pPr>
                <a:r>
                  <a:rPr lang="hu-HU" sz="3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Algoritmus abszolútérték</a:t>
                </a:r>
              </a:p>
              <a:p>
                <a:pPr marL="0" indent="0">
                  <a:buNone/>
                </a:pPr>
                <a:r>
                  <a:rPr lang="hu-HU" sz="3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Be:a</a:t>
                </a:r>
                <a:endParaRPr lang="hu-HU" sz="3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hu-HU" sz="3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Ha a&lt;0 akkor </a:t>
                </a:r>
              </a:p>
              <a:p>
                <a:pPr marL="0" indent="0">
                  <a:buNone/>
                </a:pPr>
                <a:r>
                  <a:rPr lang="hu-HU" sz="3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Ki: -a</a:t>
                </a:r>
              </a:p>
              <a:p>
                <a:pPr marL="0" indent="0">
                  <a:buNone/>
                </a:pPr>
                <a:r>
                  <a:rPr lang="hu-HU" sz="3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Különben</a:t>
                </a:r>
              </a:p>
              <a:p>
                <a:pPr marL="0" indent="0">
                  <a:buNone/>
                </a:pPr>
                <a:r>
                  <a:rPr lang="hu-HU" sz="3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</a:t>
                </a:r>
                <a:r>
                  <a:rPr lang="hu-HU" sz="3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Ki:a</a:t>
                </a:r>
                <a:endParaRPr lang="hu-HU" sz="3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hu-HU" sz="3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Elágazás vége</a:t>
                </a:r>
              </a:p>
              <a:p>
                <a:pPr marL="0" indent="0">
                  <a:buNone/>
                </a:pPr>
                <a:r>
                  <a:rPr lang="hu-HU" sz="3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Algoritmus vége</a:t>
                </a:r>
              </a:p>
              <a:p>
                <a:pPr marL="0" indent="0">
                  <a:buNone/>
                </a:pPr>
                <a:endParaRPr lang="hu-HU" sz="3200" dirty="0"/>
              </a:p>
            </p:txBody>
          </p:sp>
        </mc:Choice>
        <mc:Fallback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031" y="1068947"/>
                <a:ext cx="6683933" cy="5499278"/>
              </a:xfrm>
              <a:blipFill>
                <a:blip r:embed="rId2"/>
                <a:stretch>
                  <a:fillRect l="-1551" t="-3880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olyamatábra: Döntés 15"/>
          <p:cNvSpPr/>
          <p:nvPr/>
        </p:nvSpPr>
        <p:spPr>
          <a:xfrm>
            <a:off x="8649084" y="2100914"/>
            <a:ext cx="1423851" cy="1689707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a&lt;0</a:t>
            </a:r>
          </a:p>
        </p:txBody>
      </p:sp>
      <p:sp>
        <p:nvSpPr>
          <p:cNvPr id="17" name="Romboid 16"/>
          <p:cNvSpPr/>
          <p:nvPr/>
        </p:nvSpPr>
        <p:spPr>
          <a:xfrm>
            <a:off x="8629314" y="4298682"/>
            <a:ext cx="1443622" cy="547639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Ki: -a</a:t>
            </a:r>
          </a:p>
        </p:txBody>
      </p:sp>
      <p:sp>
        <p:nvSpPr>
          <p:cNvPr id="18" name="Romboid 17"/>
          <p:cNvSpPr/>
          <p:nvPr/>
        </p:nvSpPr>
        <p:spPr>
          <a:xfrm>
            <a:off x="10621724" y="4297404"/>
            <a:ext cx="1356917" cy="548917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Ki: a</a:t>
            </a:r>
          </a:p>
        </p:txBody>
      </p:sp>
      <p:sp>
        <p:nvSpPr>
          <p:cNvPr id="19" name="Jobbra nyíl 18"/>
          <p:cNvSpPr/>
          <p:nvPr/>
        </p:nvSpPr>
        <p:spPr>
          <a:xfrm rot="5400000">
            <a:off x="9067786" y="3919061"/>
            <a:ext cx="518484" cy="26160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Jobbra nyíl 19"/>
          <p:cNvSpPr/>
          <p:nvPr/>
        </p:nvSpPr>
        <p:spPr>
          <a:xfrm rot="5400000">
            <a:off x="10524005" y="3492902"/>
            <a:ext cx="1330771" cy="30163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Mínuszjel 20"/>
          <p:cNvSpPr/>
          <p:nvPr/>
        </p:nvSpPr>
        <p:spPr>
          <a:xfrm>
            <a:off x="9837599" y="2749824"/>
            <a:ext cx="1631590" cy="411388"/>
          </a:xfrm>
          <a:prstGeom prst="mathMin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Jobbra nyíl 21"/>
          <p:cNvSpPr/>
          <p:nvPr/>
        </p:nvSpPr>
        <p:spPr>
          <a:xfrm rot="5400000">
            <a:off x="8597464" y="5383680"/>
            <a:ext cx="1426881" cy="29385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Mínuszjel 22"/>
          <p:cNvSpPr/>
          <p:nvPr/>
        </p:nvSpPr>
        <p:spPr>
          <a:xfrm rot="5400000">
            <a:off x="10651624" y="4912386"/>
            <a:ext cx="1170405" cy="604642"/>
          </a:xfrm>
          <a:prstGeom prst="mathMin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Jobbra nyíl 23"/>
          <p:cNvSpPr/>
          <p:nvPr/>
        </p:nvSpPr>
        <p:spPr>
          <a:xfrm rot="10800000">
            <a:off x="9457832" y="5466488"/>
            <a:ext cx="1842350" cy="33342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" name="Szövegdoboz 24"/>
          <p:cNvSpPr txBox="1"/>
          <p:nvPr/>
        </p:nvSpPr>
        <p:spPr>
          <a:xfrm>
            <a:off x="9432282" y="3815969"/>
            <a:ext cx="666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</a:t>
            </a:r>
          </a:p>
        </p:txBody>
      </p:sp>
      <p:sp>
        <p:nvSpPr>
          <p:cNvPr id="26" name="Szövegdoboz 25"/>
          <p:cNvSpPr txBox="1"/>
          <p:nvPr/>
        </p:nvSpPr>
        <p:spPr>
          <a:xfrm>
            <a:off x="10288621" y="2472202"/>
            <a:ext cx="666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h</a:t>
            </a:r>
          </a:p>
        </p:txBody>
      </p:sp>
      <p:sp>
        <p:nvSpPr>
          <p:cNvPr id="27" name="Ellipszis 26"/>
          <p:cNvSpPr/>
          <p:nvPr/>
        </p:nvSpPr>
        <p:spPr>
          <a:xfrm>
            <a:off x="9250361" y="5542238"/>
            <a:ext cx="181921" cy="18192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Folyamatábra: Bekötés 39"/>
          <p:cNvSpPr/>
          <p:nvPr/>
        </p:nvSpPr>
        <p:spPr>
          <a:xfrm>
            <a:off x="8629314" y="33779"/>
            <a:ext cx="1565274" cy="521547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START</a:t>
            </a:r>
          </a:p>
        </p:txBody>
      </p:sp>
      <p:sp>
        <p:nvSpPr>
          <p:cNvPr id="41" name="Lefelé nyíl 40"/>
          <p:cNvSpPr/>
          <p:nvPr/>
        </p:nvSpPr>
        <p:spPr>
          <a:xfrm>
            <a:off x="9221451" y="567602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Folyamatábra: Adatok 41"/>
          <p:cNvSpPr/>
          <p:nvPr/>
        </p:nvSpPr>
        <p:spPr>
          <a:xfrm>
            <a:off x="8065434" y="1175085"/>
            <a:ext cx="2423160" cy="52154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Be: a</a:t>
            </a:r>
          </a:p>
        </p:txBody>
      </p:sp>
      <p:sp>
        <p:nvSpPr>
          <p:cNvPr id="43" name="Lefelé nyíl 42"/>
          <p:cNvSpPr/>
          <p:nvPr/>
        </p:nvSpPr>
        <p:spPr>
          <a:xfrm>
            <a:off x="9170509" y="1654781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Folyamatábra: Bekötés 43"/>
          <p:cNvSpPr/>
          <p:nvPr/>
        </p:nvSpPr>
        <p:spPr>
          <a:xfrm>
            <a:off x="8544391" y="6229803"/>
            <a:ext cx="1565274" cy="521547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30770287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>
            <a:normAutofit/>
          </a:bodyPr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3031" y="1068947"/>
            <a:ext cx="6945545" cy="549927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u-HU" sz="3200" b="1" dirty="0"/>
              <a:t>Írj algoritmust, amely kiírja, hogy egy szám páros, vagy páratlan!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páros</a:t>
            </a:r>
          </a:p>
          <a:p>
            <a:pPr marL="0" indent="0">
              <a:buNone/>
            </a:pP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Be:a</a:t>
            </a:r>
            <a:endParaRPr lang="hu-HU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Ha (a%2)==0 akkor 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Ki: Páros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Különben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Ki: Páratlan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Elágazás vége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vége</a:t>
            </a:r>
          </a:p>
        </p:txBody>
      </p:sp>
      <p:sp>
        <p:nvSpPr>
          <p:cNvPr id="4" name="Folyamatábra: Döntés 3"/>
          <p:cNvSpPr/>
          <p:nvPr/>
        </p:nvSpPr>
        <p:spPr>
          <a:xfrm>
            <a:off x="8307153" y="2126524"/>
            <a:ext cx="2007501" cy="1689707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a%2==0</a:t>
            </a:r>
          </a:p>
        </p:txBody>
      </p:sp>
      <p:sp>
        <p:nvSpPr>
          <p:cNvPr id="5" name="Romboid 4"/>
          <p:cNvSpPr/>
          <p:nvPr/>
        </p:nvSpPr>
        <p:spPr>
          <a:xfrm>
            <a:off x="8481249" y="4298682"/>
            <a:ext cx="1659307" cy="547639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Ki: Páros</a:t>
            </a:r>
          </a:p>
        </p:txBody>
      </p:sp>
      <p:sp>
        <p:nvSpPr>
          <p:cNvPr id="6" name="Romboid 5"/>
          <p:cNvSpPr/>
          <p:nvPr/>
        </p:nvSpPr>
        <p:spPr>
          <a:xfrm>
            <a:off x="10334146" y="4297404"/>
            <a:ext cx="1644495" cy="548917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Ki: Páratlan</a:t>
            </a:r>
          </a:p>
        </p:txBody>
      </p:sp>
      <p:sp>
        <p:nvSpPr>
          <p:cNvPr id="7" name="Jobbra nyíl 6"/>
          <p:cNvSpPr/>
          <p:nvPr/>
        </p:nvSpPr>
        <p:spPr>
          <a:xfrm rot="5400000">
            <a:off x="9067786" y="3919061"/>
            <a:ext cx="518484" cy="26160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Jobbra nyíl 7"/>
          <p:cNvSpPr/>
          <p:nvPr/>
        </p:nvSpPr>
        <p:spPr>
          <a:xfrm rot="5400000">
            <a:off x="10524005" y="3492902"/>
            <a:ext cx="1330771" cy="30163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Mínuszjel 8"/>
          <p:cNvSpPr/>
          <p:nvPr/>
        </p:nvSpPr>
        <p:spPr>
          <a:xfrm>
            <a:off x="10109665" y="2719204"/>
            <a:ext cx="1359524" cy="442008"/>
          </a:xfrm>
          <a:prstGeom prst="mathMin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Jobbra nyíl 9"/>
          <p:cNvSpPr/>
          <p:nvPr/>
        </p:nvSpPr>
        <p:spPr>
          <a:xfrm rot="5400000">
            <a:off x="8597464" y="5383680"/>
            <a:ext cx="1426881" cy="29385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Mínuszjel 10"/>
          <p:cNvSpPr/>
          <p:nvPr/>
        </p:nvSpPr>
        <p:spPr>
          <a:xfrm rot="5400000">
            <a:off x="10651624" y="4912386"/>
            <a:ext cx="1170405" cy="604642"/>
          </a:xfrm>
          <a:prstGeom prst="mathMin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Jobbra nyíl 11"/>
          <p:cNvSpPr/>
          <p:nvPr/>
        </p:nvSpPr>
        <p:spPr>
          <a:xfrm rot="10800000">
            <a:off x="9457832" y="5466488"/>
            <a:ext cx="1842350" cy="33342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Szövegdoboz 12"/>
          <p:cNvSpPr txBox="1"/>
          <p:nvPr/>
        </p:nvSpPr>
        <p:spPr>
          <a:xfrm>
            <a:off x="9432282" y="3815969"/>
            <a:ext cx="666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</a:t>
            </a:r>
          </a:p>
        </p:txBody>
      </p:sp>
      <p:sp>
        <p:nvSpPr>
          <p:cNvPr id="14" name="Szövegdoboz 13"/>
          <p:cNvSpPr txBox="1"/>
          <p:nvPr/>
        </p:nvSpPr>
        <p:spPr>
          <a:xfrm>
            <a:off x="10288621" y="2472202"/>
            <a:ext cx="666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h</a:t>
            </a:r>
          </a:p>
        </p:txBody>
      </p:sp>
      <p:sp>
        <p:nvSpPr>
          <p:cNvPr id="15" name="Ellipszis 14"/>
          <p:cNvSpPr/>
          <p:nvPr/>
        </p:nvSpPr>
        <p:spPr>
          <a:xfrm>
            <a:off x="9250361" y="5542238"/>
            <a:ext cx="181921" cy="18192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Folyamatábra: Bekötés 15"/>
          <p:cNvSpPr/>
          <p:nvPr/>
        </p:nvSpPr>
        <p:spPr>
          <a:xfrm>
            <a:off x="8768872" y="-72570"/>
            <a:ext cx="1565274" cy="521547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START</a:t>
            </a:r>
          </a:p>
        </p:txBody>
      </p:sp>
      <p:sp>
        <p:nvSpPr>
          <p:cNvPr id="17" name="Lefelé nyíl 16"/>
          <p:cNvSpPr/>
          <p:nvPr/>
        </p:nvSpPr>
        <p:spPr>
          <a:xfrm>
            <a:off x="9221451" y="567602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Folyamatábra: Adatok 17"/>
          <p:cNvSpPr/>
          <p:nvPr/>
        </p:nvSpPr>
        <p:spPr>
          <a:xfrm>
            <a:off x="8065434" y="1175085"/>
            <a:ext cx="2423160" cy="52154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Be: a</a:t>
            </a:r>
          </a:p>
        </p:txBody>
      </p:sp>
      <p:sp>
        <p:nvSpPr>
          <p:cNvPr id="19" name="Lefelé nyíl 18"/>
          <p:cNvSpPr/>
          <p:nvPr/>
        </p:nvSpPr>
        <p:spPr>
          <a:xfrm>
            <a:off x="9170509" y="1654781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Folyamatábra: Bekötés 19"/>
          <p:cNvSpPr/>
          <p:nvPr/>
        </p:nvSpPr>
        <p:spPr>
          <a:xfrm>
            <a:off x="8544391" y="6229803"/>
            <a:ext cx="1565274" cy="521547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41841370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>
            <a:normAutofit/>
          </a:bodyPr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3032" y="1068947"/>
            <a:ext cx="7512454" cy="549927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u-HU" sz="3200" b="1" dirty="0"/>
              <a:t>Írj algoritmust, amely eldönti egy háromszögről, hogy szerkeszthető-e!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páros</a:t>
            </a:r>
          </a:p>
          <a:p>
            <a:pPr marL="0" indent="0">
              <a:buNone/>
            </a:pP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Be:a,b,c</a:t>
            </a:r>
            <a:endParaRPr lang="hu-HU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Ha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&gt;c &amp;&amp;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b+c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&gt;a &amp;&amp;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a+c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&gt;b akkor 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Ki: Szerkeszthető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Különben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Ki: Nem szerkeszthető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Elágazás vége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vége</a:t>
            </a:r>
          </a:p>
        </p:txBody>
      </p:sp>
      <p:sp>
        <p:nvSpPr>
          <p:cNvPr id="4" name="Folyamatábra: Döntés 3"/>
          <p:cNvSpPr/>
          <p:nvPr/>
        </p:nvSpPr>
        <p:spPr>
          <a:xfrm>
            <a:off x="8203426" y="2083604"/>
            <a:ext cx="2249220" cy="178518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err="1">
                <a:cs typeface="Courier New" panose="02070309020205020404" pitchFamily="49" charset="0"/>
              </a:rPr>
              <a:t>a+b</a:t>
            </a:r>
            <a:r>
              <a:rPr lang="hu-HU" dirty="0">
                <a:cs typeface="Courier New" panose="02070309020205020404" pitchFamily="49" charset="0"/>
              </a:rPr>
              <a:t>&gt;c &amp;&amp; </a:t>
            </a:r>
            <a:r>
              <a:rPr lang="hu-HU" dirty="0" err="1">
                <a:cs typeface="Courier New" panose="02070309020205020404" pitchFamily="49" charset="0"/>
              </a:rPr>
              <a:t>b+c</a:t>
            </a:r>
            <a:r>
              <a:rPr lang="hu-HU" dirty="0">
                <a:cs typeface="Courier New" panose="02070309020205020404" pitchFamily="49" charset="0"/>
              </a:rPr>
              <a:t>&gt;a &amp;&amp; </a:t>
            </a:r>
            <a:r>
              <a:rPr lang="hu-HU" dirty="0" err="1">
                <a:cs typeface="Courier New" panose="02070309020205020404" pitchFamily="49" charset="0"/>
              </a:rPr>
              <a:t>a+c</a:t>
            </a:r>
            <a:r>
              <a:rPr lang="hu-HU" dirty="0">
                <a:cs typeface="Courier New" panose="02070309020205020404" pitchFamily="49" charset="0"/>
              </a:rPr>
              <a:t>&gt;b</a:t>
            </a:r>
            <a:endParaRPr lang="hu-HU" dirty="0"/>
          </a:p>
        </p:txBody>
      </p:sp>
      <p:sp>
        <p:nvSpPr>
          <p:cNvPr id="5" name="Romboid 4"/>
          <p:cNvSpPr/>
          <p:nvPr/>
        </p:nvSpPr>
        <p:spPr>
          <a:xfrm>
            <a:off x="8122400" y="4320369"/>
            <a:ext cx="1992410" cy="547639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Ki: Szerkeszthető</a:t>
            </a:r>
          </a:p>
        </p:txBody>
      </p:sp>
      <p:sp>
        <p:nvSpPr>
          <p:cNvPr id="6" name="Romboid 5"/>
          <p:cNvSpPr/>
          <p:nvPr/>
        </p:nvSpPr>
        <p:spPr>
          <a:xfrm>
            <a:off x="10109665" y="4297404"/>
            <a:ext cx="2082335" cy="548917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Ki: Nem szerkeszthető</a:t>
            </a:r>
          </a:p>
        </p:txBody>
      </p:sp>
      <p:sp>
        <p:nvSpPr>
          <p:cNvPr id="7" name="Jobbra nyíl 6"/>
          <p:cNvSpPr/>
          <p:nvPr/>
        </p:nvSpPr>
        <p:spPr>
          <a:xfrm rot="5400000">
            <a:off x="9067786" y="3919061"/>
            <a:ext cx="518484" cy="26160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Jobbra nyíl 7"/>
          <p:cNvSpPr/>
          <p:nvPr/>
        </p:nvSpPr>
        <p:spPr>
          <a:xfrm rot="5400000">
            <a:off x="10524005" y="3492902"/>
            <a:ext cx="1330771" cy="30163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Mínuszjel 8"/>
          <p:cNvSpPr/>
          <p:nvPr/>
        </p:nvSpPr>
        <p:spPr>
          <a:xfrm>
            <a:off x="10288621" y="2841534"/>
            <a:ext cx="1180568" cy="319678"/>
          </a:xfrm>
          <a:prstGeom prst="mathMin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Jobbra nyíl 9"/>
          <p:cNvSpPr/>
          <p:nvPr/>
        </p:nvSpPr>
        <p:spPr>
          <a:xfrm rot="5400000">
            <a:off x="8597464" y="5383680"/>
            <a:ext cx="1426881" cy="29385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Mínuszjel 10"/>
          <p:cNvSpPr/>
          <p:nvPr/>
        </p:nvSpPr>
        <p:spPr>
          <a:xfrm rot="5400000">
            <a:off x="10681656" y="4942419"/>
            <a:ext cx="1110341" cy="604642"/>
          </a:xfrm>
          <a:prstGeom prst="mathMin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Jobbra nyíl 11"/>
          <p:cNvSpPr/>
          <p:nvPr/>
        </p:nvSpPr>
        <p:spPr>
          <a:xfrm rot="10800000">
            <a:off x="9457832" y="5466488"/>
            <a:ext cx="1842350" cy="33342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Szövegdoboz 12"/>
          <p:cNvSpPr txBox="1"/>
          <p:nvPr/>
        </p:nvSpPr>
        <p:spPr>
          <a:xfrm>
            <a:off x="9432282" y="3815969"/>
            <a:ext cx="666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</a:t>
            </a:r>
          </a:p>
        </p:txBody>
      </p:sp>
      <p:sp>
        <p:nvSpPr>
          <p:cNvPr id="14" name="Szövegdoboz 13"/>
          <p:cNvSpPr txBox="1"/>
          <p:nvPr/>
        </p:nvSpPr>
        <p:spPr>
          <a:xfrm>
            <a:off x="10288621" y="2472202"/>
            <a:ext cx="666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h</a:t>
            </a:r>
          </a:p>
        </p:txBody>
      </p:sp>
      <p:sp>
        <p:nvSpPr>
          <p:cNvPr id="15" name="Ellipszis 14"/>
          <p:cNvSpPr/>
          <p:nvPr/>
        </p:nvSpPr>
        <p:spPr>
          <a:xfrm>
            <a:off x="9250361" y="5542238"/>
            <a:ext cx="181921" cy="18192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Folyamatábra: Bekötés 15"/>
          <p:cNvSpPr/>
          <p:nvPr/>
        </p:nvSpPr>
        <p:spPr>
          <a:xfrm>
            <a:off x="8768872" y="-72570"/>
            <a:ext cx="1565274" cy="521547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START</a:t>
            </a:r>
          </a:p>
        </p:txBody>
      </p:sp>
      <p:sp>
        <p:nvSpPr>
          <p:cNvPr id="17" name="Lefelé nyíl 16"/>
          <p:cNvSpPr/>
          <p:nvPr/>
        </p:nvSpPr>
        <p:spPr>
          <a:xfrm>
            <a:off x="9221451" y="567602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Folyamatábra: Adatok 17"/>
          <p:cNvSpPr/>
          <p:nvPr/>
        </p:nvSpPr>
        <p:spPr>
          <a:xfrm>
            <a:off x="8065434" y="1175085"/>
            <a:ext cx="2423160" cy="52154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Be: </a:t>
            </a:r>
            <a:r>
              <a:rPr lang="hu-HU" dirty="0" err="1"/>
              <a:t>a,b,c</a:t>
            </a:r>
            <a:endParaRPr lang="hu-HU" dirty="0"/>
          </a:p>
        </p:txBody>
      </p:sp>
      <p:sp>
        <p:nvSpPr>
          <p:cNvPr id="19" name="Lefelé nyíl 18"/>
          <p:cNvSpPr/>
          <p:nvPr/>
        </p:nvSpPr>
        <p:spPr>
          <a:xfrm>
            <a:off x="9170509" y="1654781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Folyamatábra: Bekötés 19"/>
          <p:cNvSpPr/>
          <p:nvPr/>
        </p:nvSpPr>
        <p:spPr>
          <a:xfrm>
            <a:off x="8544391" y="6229803"/>
            <a:ext cx="1565274" cy="521547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8321089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>
            <a:normAutofit/>
          </a:bodyPr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3031" y="1068947"/>
            <a:ext cx="7583975" cy="5499278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hu-HU" sz="3200" b="1" dirty="0"/>
              <a:t>Írjunk programot, amely beolvas egy a és b egész számot, majd egy x számot, és eldönti, hogy x eleme-e az [a,b] intervallumnak!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páros</a:t>
            </a:r>
          </a:p>
          <a:p>
            <a:pPr marL="0" indent="0">
              <a:buNone/>
            </a:pP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Be:a,b,x</a:t>
            </a:r>
            <a:endParaRPr lang="hu-HU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Ha x&gt;=a &amp;&amp; x&lt;=b akkor 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Ki: Eleme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Különben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Ki: Nem eleme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Elágazás vége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vége</a:t>
            </a:r>
          </a:p>
        </p:txBody>
      </p:sp>
      <p:sp>
        <p:nvSpPr>
          <p:cNvPr id="4" name="Folyamatábra: Döntés 3"/>
          <p:cNvSpPr/>
          <p:nvPr/>
        </p:nvSpPr>
        <p:spPr>
          <a:xfrm>
            <a:off x="8203426" y="2083604"/>
            <a:ext cx="2249220" cy="178518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>
                <a:cs typeface="Courier New" panose="02070309020205020404" pitchFamily="49" charset="0"/>
              </a:rPr>
              <a:t>x&gt;=a &amp;&amp; x&lt;=b</a:t>
            </a:r>
            <a:endParaRPr lang="hu-HU" dirty="0"/>
          </a:p>
        </p:txBody>
      </p:sp>
      <p:sp>
        <p:nvSpPr>
          <p:cNvPr id="5" name="Folyamatábra: Adatok 4"/>
          <p:cNvSpPr/>
          <p:nvPr/>
        </p:nvSpPr>
        <p:spPr>
          <a:xfrm>
            <a:off x="8629314" y="4298682"/>
            <a:ext cx="1770826" cy="547639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Ki: Eleme</a:t>
            </a:r>
          </a:p>
        </p:txBody>
      </p:sp>
      <p:sp>
        <p:nvSpPr>
          <p:cNvPr id="6" name="Romboid 5"/>
          <p:cNvSpPr/>
          <p:nvPr/>
        </p:nvSpPr>
        <p:spPr>
          <a:xfrm>
            <a:off x="10450629" y="4297404"/>
            <a:ext cx="1741371" cy="548917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Ki: Nem eleme</a:t>
            </a:r>
          </a:p>
        </p:txBody>
      </p:sp>
      <p:sp>
        <p:nvSpPr>
          <p:cNvPr id="7" name="Jobbra nyíl 6"/>
          <p:cNvSpPr/>
          <p:nvPr/>
        </p:nvSpPr>
        <p:spPr>
          <a:xfrm rot="5400000">
            <a:off x="9067786" y="3919061"/>
            <a:ext cx="518484" cy="26160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Jobbra nyíl 7"/>
          <p:cNvSpPr/>
          <p:nvPr/>
        </p:nvSpPr>
        <p:spPr>
          <a:xfrm rot="5400000">
            <a:off x="10524005" y="3492902"/>
            <a:ext cx="1330771" cy="30163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Mínuszjel 8"/>
          <p:cNvSpPr/>
          <p:nvPr/>
        </p:nvSpPr>
        <p:spPr>
          <a:xfrm>
            <a:off x="10288621" y="2841534"/>
            <a:ext cx="1180568" cy="319678"/>
          </a:xfrm>
          <a:prstGeom prst="mathMin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Jobbra nyíl 9"/>
          <p:cNvSpPr/>
          <p:nvPr/>
        </p:nvSpPr>
        <p:spPr>
          <a:xfrm rot="5400000">
            <a:off x="8597464" y="5383680"/>
            <a:ext cx="1426881" cy="29385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Mínuszjel 10"/>
          <p:cNvSpPr/>
          <p:nvPr/>
        </p:nvSpPr>
        <p:spPr>
          <a:xfrm rot="5400000">
            <a:off x="10681656" y="4942419"/>
            <a:ext cx="1110341" cy="604642"/>
          </a:xfrm>
          <a:prstGeom prst="mathMin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Jobbra nyíl 11"/>
          <p:cNvSpPr/>
          <p:nvPr/>
        </p:nvSpPr>
        <p:spPr>
          <a:xfrm rot="10800000">
            <a:off x="9457832" y="5466488"/>
            <a:ext cx="1842350" cy="33342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Szövegdoboz 12"/>
          <p:cNvSpPr txBox="1"/>
          <p:nvPr/>
        </p:nvSpPr>
        <p:spPr>
          <a:xfrm>
            <a:off x="9432282" y="3815969"/>
            <a:ext cx="666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</a:t>
            </a:r>
          </a:p>
        </p:txBody>
      </p:sp>
      <p:sp>
        <p:nvSpPr>
          <p:cNvPr id="14" name="Szövegdoboz 13"/>
          <p:cNvSpPr txBox="1"/>
          <p:nvPr/>
        </p:nvSpPr>
        <p:spPr>
          <a:xfrm>
            <a:off x="10288621" y="2472202"/>
            <a:ext cx="666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h</a:t>
            </a:r>
          </a:p>
        </p:txBody>
      </p:sp>
      <p:sp>
        <p:nvSpPr>
          <p:cNvPr id="15" name="Ellipszis 14"/>
          <p:cNvSpPr/>
          <p:nvPr/>
        </p:nvSpPr>
        <p:spPr>
          <a:xfrm>
            <a:off x="9250361" y="5542238"/>
            <a:ext cx="181921" cy="18192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Folyamatábra: Bekötés 15"/>
          <p:cNvSpPr/>
          <p:nvPr/>
        </p:nvSpPr>
        <p:spPr>
          <a:xfrm>
            <a:off x="8768872" y="-72570"/>
            <a:ext cx="1565274" cy="521547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START</a:t>
            </a:r>
          </a:p>
        </p:txBody>
      </p:sp>
      <p:sp>
        <p:nvSpPr>
          <p:cNvPr id="17" name="Lefelé nyíl 16"/>
          <p:cNvSpPr/>
          <p:nvPr/>
        </p:nvSpPr>
        <p:spPr>
          <a:xfrm>
            <a:off x="9221451" y="567602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Folyamatábra: Adatok 17"/>
          <p:cNvSpPr/>
          <p:nvPr/>
        </p:nvSpPr>
        <p:spPr>
          <a:xfrm>
            <a:off x="8065434" y="1175085"/>
            <a:ext cx="2423160" cy="52154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Be: </a:t>
            </a:r>
            <a:r>
              <a:rPr lang="hu-HU" dirty="0" err="1"/>
              <a:t>a,b,x</a:t>
            </a:r>
            <a:endParaRPr lang="hu-HU" dirty="0"/>
          </a:p>
        </p:txBody>
      </p:sp>
      <p:sp>
        <p:nvSpPr>
          <p:cNvPr id="19" name="Lefelé nyíl 18"/>
          <p:cNvSpPr/>
          <p:nvPr/>
        </p:nvSpPr>
        <p:spPr>
          <a:xfrm>
            <a:off x="9170509" y="1654781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Folyamatábra: Bekötés 19"/>
          <p:cNvSpPr/>
          <p:nvPr/>
        </p:nvSpPr>
        <p:spPr>
          <a:xfrm>
            <a:off x="8544391" y="6229803"/>
            <a:ext cx="1565274" cy="521547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27847420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-7958"/>
            <a:ext cx="10131425" cy="814946"/>
          </a:xfrm>
        </p:spPr>
        <p:txBody>
          <a:bodyPr>
            <a:normAutofit/>
          </a:bodyPr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3032" y="448977"/>
            <a:ext cx="7486740" cy="6119248"/>
          </a:xfrm>
        </p:spPr>
        <p:txBody>
          <a:bodyPr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hu-HU" sz="2400" b="1" dirty="0"/>
              <a:t>Írj algoritmust, amely eldönti két számról, hogy az egyik osztója-e a másiknak!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páros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Be:a,b</a:t>
            </a:r>
            <a:endParaRPr lang="hu-H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Ha 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a%b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==0 akkor 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Ki: a osztható b-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vel</a:t>
            </a:r>
            <a:endParaRPr lang="hu-H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Különben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Ha 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b%a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==0 akkor 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Ki: b osztható a-val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Különben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Ki: Egyik szám sem osztható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 másikkal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Elágazás vége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Elágazás vége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vége</a:t>
            </a:r>
          </a:p>
        </p:txBody>
      </p:sp>
      <p:sp>
        <p:nvSpPr>
          <p:cNvPr id="4" name="Folyamatábra: Döntés 3"/>
          <p:cNvSpPr/>
          <p:nvPr/>
        </p:nvSpPr>
        <p:spPr>
          <a:xfrm>
            <a:off x="6466659" y="2332065"/>
            <a:ext cx="1895061" cy="137277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2000" b="1" dirty="0" err="1">
                <a:cs typeface="Courier New" panose="02070309020205020404" pitchFamily="49" charset="0"/>
              </a:rPr>
              <a:t>a%b</a:t>
            </a:r>
            <a:r>
              <a:rPr lang="hu-HU" sz="2000" b="1" dirty="0">
                <a:cs typeface="Courier New" panose="02070309020205020404" pitchFamily="49" charset="0"/>
              </a:rPr>
              <a:t>==0</a:t>
            </a:r>
            <a:endParaRPr lang="hu-HU" sz="2000" b="1" dirty="0"/>
          </a:p>
        </p:txBody>
      </p:sp>
      <p:sp>
        <p:nvSpPr>
          <p:cNvPr id="5" name="Romboid 4"/>
          <p:cNvSpPr/>
          <p:nvPr/>
        </p:nvSpPr>
        <p:spPr>
          <a:xfrm>
            <a:off x="6324599" y="4077069"/>
            <a:ext cx="2217175" cy="862012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2000" b="1" dirty="0"/>
              <a:t>Ki: a osztható b-</a:t>
            </a:r>
            <a:r>
              <a:rPr lang="hu-HU" sz="2000" b="1" dirty="0" err="1"/>
              <a:t>vel</a:t>
            </a:r>
            <a:endParaRPr lang="hu-HU" sz="2000" b="1" dirty="0"/>
          </a:p>
        </p:txBody>
      </p:sp>
      <p:sp>
        <p:nvSpPr>
          <p:cNvPr id="6" name="Romboid 5"/>
          <p:cNvSpPr/>
          <p:nvPr/>
        </p:nvSpPr>
        <p:spPr>
          <a:xfrm>
            <a:off x="8611520" y="4201335"/>
            <a:ext cx="2200440" cy="687516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2000" b="1" dirty="0"/>
              <a:t>Ki: b osztható a-val</a:t>
            </a:r>
          </a:p>
        </p:txBody>
      </p:sp>
      <p:sp>
        <p:nvSpPr>
          <p:cNvPr id="7" name="Jobbra nyíl 6"/>
          <p:cNvSpPr/>
          <p:nvPr/>
        </p:nvSpPr>
        <p:spPr>
          <a:xfrm rot="5400000">
            <a:off x="7086841" y="3934179"/>
            <a:ext cx="694743" cy="23605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 sz="2000" b="1"/>
          </a:p>
        </p:txBody>
      </p:sp>
      <p:sp>
        <p:nvSpPr>
          <p:cNvPr id="10" name="Téglalap 9"/>
          <p:cNvSpPr/>
          <p:nvPr/>
        </p:nvSpPr>
        <p:spPr>
          <a:xfrm rot="5400000">
            <a:off x="6908833" y="5238007"/>
            <a:ext cx="983980" cy="1692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 sz="2000" b="1"/>
          </a:p>
        </p:txBody>
      </p:sp>
      <p:sp>
        <p:nvSpPr>
          <p:cNvPr id="11" name="Mínuszjel 10"/>
          <p:cNvSpPr/>
          <p:nvPr/>
        </p:nvSpPr>
        <p:spPr>
          <a:xfrm rot="5400000">
            <a:off x="9437639" y="4968253"/>
            <a:ext cx="1110341" cy="604642"/>
          </a:xfrm>
          <a:prstGeom prst="mathMin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 sz="2000" b="1"/>
          </a:p>
        </p:txBody>
      </p:sp>
      <p:sp>
        <p:nvSpPr>
          <p:cNvPr id="12" name="Lekerekített téglalap 11"/>
          <p:cNvSpPr/>
          <p:nvPr/>
        </p:nvSpPr>
        <p:spPr>
          <a:xfrm rot="10800000">
            <a:off x="7495039" y="5633934"/>
            <a:ext cx="4019429" cy="1791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 sz="2000" b="1"/>
          </a:p>
        </p:txBody>
      </p:sp>
      <p:sp>
        <p:nvSpPr>
          <p:cNvPr id="13" name="Szövegdoboz 12"/>
          <p:cNvSpPr txBox="1"/>
          <p:nvPr/>
        </p:nvSpPr>
        <p:spPr>
          <a:xfrm>
            <a:off x="7485463" y="3906442"/>
            <a:ext cx="666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dirty="0"/>
              <a:t>i</a:t>
            </a:r>
          </a:p>
        </p:txBody>
      </p:sp>
      <p:sp>
        <p:nvSpPr>
          <p:cNvPr id="14" name="Szövegdoboz 13"/>
          <p:cNvSpPr txBox="1"/>
          <p:nvPr/>
        </p:nvSpPr>
        <p:spPr>
          <a:xfrm>
            <a:off x="8341802" y="2562675"/>
            <a:ext cx="666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dirty="0"/>
              <a:t>h</a:t>
            </a:r>
          </a:p>
        </p:txBody>
      </p:sp>
      <p:sp>
        <p:nvSpPr>
          <p:cNvPr id="15" name="Ellipszis 14"/>
          <p:cNvSpPr/>
          <p:nvPr/>
        </p:nvSpPr>
        <p:spPr>
          <a:xfrm>
            <a:off x="9889711" y="5643824"/>
            <a:ext cx="181921" cy="18192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 sz="2000" b="1"/>
          </a:p>
        </p:txBody>
      </p:sp>
      <p:sp>
        <p:nvSpPr>
          <p:cNvPr id="16" name="Folyamatábra: Bekötés 15"/>
          <p:cNvSpPr/>
          <p:nvPr/>
        </p:nvSpPr>
        <p:spPr>
          <a:xfrm>
            <a:off x="6822053" y="17903"/>
            <a:ext cx="1565274" cy="521547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2000" b="1" dirty="0"/>
              <a:t>START</a:t>
            </a:r>
          </a:p>
        </p:txBody>
      </p:sp>
      <p:sp>
        <p:nvSpPr>
          <p:cNvPr id="17" name="Lefelé nyíl 16"/>
          <p:cNvSpPr/>
          <p:nvPr/>
        </p:nvSpPr>
        <p:spPr>
          <a:xfrm>
            <a:off x="7274632" y="658075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 sz="2000" b="1"/>
          </a:p>
        </p:txBody>
      </p:sp>
      <p:sp>
        <p:nvSpPr>
          <p:cNvPr id="18" name="Folyamatábra: Adatok 17"/>
          <p:cNvSpPr/>
          <p:nvPr/>
        </p:nvSpPr>
        <p:spPr>
          <a:xfrm>
            <a:off x="6118615" y="1265558"/>
            <a:ext cx="2423160" cy="52154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2000" b="1" dirty="0"/>
              <a:t>Be: </a:t>
            </a:r>
            <a:r>
              <a:rPr lang="hu-HU" sz="2000" b="1" dirty="0" err="1"/>
              <a:t>a,b</a:t>
            </a:r>
            <a:endParaRPr lang="hu-HU" sz="2000" b="1" dirty="0"/>
          </a:p>
        </p:txBody>
      </p:sp>
      <p:sp>
        <p:nvSpPr>
          <p:cNvPr id="19" name="Lefelé nyíl 18"/>
          <p:cNvSpPr/>
          <p:nvPr/>
        </p:nvSpPr>
        <p:spPr>
          <a:xfrm>
            <a:off x="7223690" y="1745254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 sz="2000" b="1"/>
          </a:p>
        </p:txBody>
      </p:sp>
      <p:sp>
        <p:nvSpPr>
          <p:cNvPr id="20" name="Folyamatábra: Bekötés 19"/>
          <p:cNvSpPr/>
          <p:nvPr/>
        </p:nvSpPr>
        <p:spPr>
          <a:xfrm>
            <a:off x="9253863" y="6353664"/>
            <a:ext cx="1565274" cy="521547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2000" b="1" dirty="0"/>
              <a:t>STOP</a:t>
            </a:r>
          </a:p>
        </p:txBody>
      </p:sp>
      <p:sp>
        <p:nvSpPr>
          <p:cNvPr id="21" name="Folyamatábra: Döntés 20"/>
          <p:cNvSpPr/>
          <p:nvPr/>
        </p:nvSpPr>
        <p:spPr>
          <a:xfrm>
            <a:off x="8868336" y="2262505"/>
            <a:ext cx="2016661" cy="157377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2000" b="1" dirty="0" err="1">
                <a:cs typeface="Courier New" panose="02070309020205020404" pitchFamily="49" charset="0"/>
              </a:rPr>
              <a:t>b%a</a:t>
            </a:r>
            <a:r>
              <a:rPr lang="hu-HU" sz="2000" b="1" dirty="0">
                <a:cs typeface="Courier New" panose="02070309020205020404" pitchFamily="49" charset="0"/>
              </a:rPr>
              <a:t>==0</a:t>
            </a:r>
            <a:endParaRPr lang="hu-HU" sz="2000" b="1" dirty="0"/>
          </a:p>
        </p:txBody>
      </p:sp>
      <p:sp>
        <p:nvSpPr>
          <p:cNvPr id="22" name="Jobbra nyíl 21"/>
          <p:cNvSpPr/>
          <p:nvPr/>
        </p:nvSpPr>
        <p:spPr>
          <a:xfrm rot="10800000" flipH="1">
            <a:off x="8289525" y="2868996"/>
            <a:ext cx="718482" cy="29362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 sz="2000" b="1"/>
          </a:p>
        </p:txBody>
      </p:sp>
      <p:sp>
        <p:nvSpPr>
          <p:cNvPr id="23" name="Jobbra nyíl 22"/>
          <p:cNvSpPr/>
          <p:nvPr/>
        </p:nvSpPr>
        <p:spPr>
          <a:xfrm rot="5400000">
            <a:off x="9617423" y="3960304"/>
            <a:ext cx="518484" cy="26160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 sz="2000" b="1"/>
          </a:p>
        </p:txBody>
      </p:sp>
      <p:sp>
        <p:nvSpPr>
          <p:cNvPr id="24" name="Szövegdoboz 23"/>
          <p:cNvSpPr txBox="1"/>
          <p:nvPr/>
        </p:nvSpPr>
        <p:spPr>
          <a:xfrm>
            <a:off x="10504996" y="4079440"/>
            <a:ext cx="666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dirty="0"/>
              <a:t>i</a:t>
            </a:r>
          </a:p>
        </p:txBody>
      </p:sp>
      <p:sp>
        <p:nvSpPr>
          <p:cNvPr id="25" name="Téglalap 24"/>
          <p:cNvSpPr/>
          <p:nvPr/>
        </p:nvSpPr>
        <p:spPr>
          <a:xfrm rot="10800000" flipH="1">
            <a:off x="10811960" y="2987627"/>
            <a:ext cx="718482" cy="123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 sz="2000" b="1"/>
          </a:p>
        </p:txBody>
      </p:sp>
      <p:sp>
        <p:nvSpPr>
          <p:cNvPr id="26" name="Szövegdoboz 25"/>
          <p:cNvSpPr txBox="1"/>
          <p:nvPr/>
        </p:nvSpPr>
        <p:spPr>
          <a:xfrm>
            <a:off x="10884997" y="2562674"/>
            <a:ext cx="666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dirty="0"/>
              <a:t>h</a:t>
            </a:r>
          </a:p>
        </p:txBody>
      </p:sp>
      <p:sp>
        <p:nvSpPr>
          <p:cNvPr id="27" name="Jobbra nyíl 26"/>
          <p:cNvSpPr/>
          <p:nvPr/>
        </p:nvSpPr>
        <p:spPr>
          <a:xfrm rot="5400000">
            <a:off x="10803738" y="3505253"/>
            <a:ext cx="1275925" cy="21900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 sz="2000" b="1"/>
          </a:p>
        </p:txBody>
      </p:sp>
      <p:sp>
        <p:nvSpPr>
          <p:cNvPr id="28" name="Romboid 27"/>
          <p:cNvSpPr/>
          <p:nvPr/>
        </p:nvSpPr>
        <p:spPr>
          <a:xfrm>
            <a:off x="10601154" y="4136452"/>
            <a:ext cx="1712766" cy="708789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2000" b="1" dirty="0"/>
              <a:t>Ki: Egyik sem…</a:t>
            </a:r>
          </a:p>
        </p:txBody>
      </p:sp>
      <p:sp>
        <p:nvSpPr>
          <p:cNvPr id="29" name="Mínuszjel 28"/>
          <p:cNvSpPr/>
          <p:nvPr/>
        </p:nvSpPr>
        <p:spPr>
          <a:xfrm rot="5400000">
            <a:off x="10857349" y="4927963"/>
            <a:ext cx="1168701" cy="604642"/>
          </a:xfrm>
          <a:prstGeom prst="mathMin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 sz="2000" b="1"/>
          </a:p>
        </p:txBody>
      </p:sp>
      <p:sp>
        <p:nvSpPr>
          <p:cNvPr id="32" name="Jobbra nyíl 31"/>
          <p:cNvSpPr/>
          <p:nvPr/>
        </p:nvSpPr>
        <p:spPr>
          <a:xfrm rot="5400000">
            <a:off x="9721428" y="5958419"/>
            <a:ext cx="518484" cy="26160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 sz="2000" b="1"/>
          </a:p>
        </p:txBody>
      </p:sp>
    </p:spTree>
    <p:extLst>
      <p:ext uri="{BB962C8B-B14F-4D97-AF65-F5344CB8AC3E}">
        <p14:creationId xmlns:p14="http://schemas.microsoft.com/office/powerpoint/2010/main" val="10561662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0" grpId="0" animBg="1"/>
      <p:bldP spid="11" grpId="0" animBg="1"/>
      <p:bldP spid="12" grpId="0" animBg="1"/>
      <p:bldP spid="13" grpId="0"/>
      <p:bldP spid="14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25" grpId="0" animBg="1"/>
      <p:bldP spid="26" grpId="0"/>
      <p:bldP spid="27" grpId="0" animBg="1"/>
      <p:bldP spid="28" grpId="0" animBg="1"/>
      <p:bldP spid="29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>
            <a:normAutofit/>
          </a:bodyPr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3031" y="1068947"/>
            <a:ext cx="11640477" cy="54992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200" b="1" dirty="0"/>
              <a:t>Írj algoritmust, amely egy két szám közül a nagyobbat kiírja!</a:t>
            </a:r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18224011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>
            <a:normAutofit/>
          </a:bodyPr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3031" y="1068947"/>
            <a:ext cx="11640477" cy="5499278"/>
          </a:xfrm>
        </p:spPr>
        <p:txBody>
          <a:bodyPr>
            <a:normAutofit/>
          </a:bodyPr>
          <a:lstStyle/>
          <a:p>
            <a:pPr lvl="0"/>
            <a:r>
              <a:rPr lang="hu-HU" sz="3200" dirty="0"/>
              <a:t>Írjunk programot, amely beolvas két egész számot, majd eldönti, hogy azonos-e az előjelük!</a:t>
            </a:r>
          </a:p>
        </p:txBody>
      </p:sp>
    </p:spTree>
    <p:extLst>
      <p:ext uri="{BB962C8B-B14F-4D97-AF65-F5344CB8AC3E}">
        <p14:creationId xmlns:p14="http://schemas.microsoft.com/office/powerpoint/2010/main" val="33528901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>
            <a:normAutofit/>
          </a:bodyPr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3031" y="1068947"/>
            <a:ext cx="11640477" cy="5499278"/>
          </a:xfrm>
        </p:spPr>
        <p:txBody>
          <a:bodyPr>
            <a:normAutofit/>
          </a:bodyPr>
          <a:lstStyle/>
          <a:p>
            <a:pPr lvl="0"/>
            <a:r>
              <a:rPr lang="hu-HU" sz="3200" dirty="0"/>
              <a:t>Írjunk programot, amely egy egész számot, és meghatározza, hogy palindrom szám-e!</a:t>
            </a:r>
          </a:p>
        </p:txBody>
      </p:sp>
    </p:spTree>
    <p:extLst>
      <p:ext uri="{BB962C8B-B14F-4D97-AF65-F5344CB8AC3E}">
        <p14:creationId xmlns:p14="http://schemas.microsoft.com/office/powerpoint/2010/main" val="29758820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TC103457452[[fn=Égi]]</Template>
  <TotalTime>1299</TotalTime>
  <Words>544</Words>
  <Application>Microsoft Office PowerPoint</Application>
  <PresentationFormat>Szélesvásznú</PresentationFormat>
  <Paragraphs>126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Courier New</vt:lpstr>
      <vt:lpstr>Égi</vt:lpstr>
      <vt:lpstr>Szelekció</vt:lpstr>
      <vt:lpstr>Szelekció</vt:lpstr>
      <vt:lpstr>PÉLDA</vt:lpstr>
      <vt:lpstr>PÉLDA</vt:lpstr>
      <vt:lpstr>PÉLDA</vt:lpstr>
      <vt:lpstr>PÉLDA</vt:lpstr>
      <vt:lpstr>PÉLDA</vt:lpstr>
      <vt:lpstr>PÉLDA</vt:lpstr>
      <vt:lpstr>PÉLDA</vt:lpstr>
      <vt:lpstr>PÉLDA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Ciklusok a C# nyelvben</dc:title>
  <dc:creator>Péter Miklós</dc:creator>
  <cp:lastModifiedBy>miklos.peter@sulid.hu</cp:lastModifiedBy>
  <cp:revision>326</cp:revision>
  <dcterms:created xsi:type="dcterms:W3CDTF">2014-11-05T16:55:57Z</dcterms:created>
  <dcterms:modified xsi:type="dcterms:W3CDTF">2022-01-26T12:03:16Z</dcterms:modified>
</cp:coreProperties>
</file>