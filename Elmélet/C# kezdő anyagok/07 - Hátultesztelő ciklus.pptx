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6"/>
  </p:handoutMasterIdLst>
  <p:sldIdLst>
    <p:sldId id="289" r:id="rId2"/>
    <p:sldId id="290" r:id="rId3"/>
    <p:sldId id="293" r:id="rId4"/>
    <p:sldId id="29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2016. 01. 01.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err="1" smtClean="0"/>
              <a:t>Hátultesztelő</a:t>
            </a:r>
            <a:r>
              <a:rPr lang="hu-HU" dirty="0" smtClean="0"/>
              <a:t> ciklus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8753586" cy="549927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hu-HU" sz="3200" dirty="0" smtClean="0"/>
              <a:t>Az ismétlődésre vonatkozó feltétel a ciklus végében van. </a:t>
            </a:r>
          </a:p>
          <a:p>
            <a:pPr lvl="0"/>
            <a:r>
              <a:rPr lang="hu-HU" sz="3200" dirty="0" smtClean="0"/>
              <a:t>Legalább egyszer </a:t>
            </a:r>
            <a:r>
              <a:rPr lang="hu-HU" sz="3200" dirty="0" err="1" smtClean="0"/>
              <a:t>végrehajtódik</a:t>
            </a:r>
            <a:r>
              <a:rPr lang="hu-HU" sz="3200" dirty="0" smtClean="0"/>
              <a:t> a ciklus magja.</a:t>
            </a:r>
          </a:p>
          <a:p>
            <a:pPr lvl="0"/>
            <a:r>
              <a:rPr lang="hu-HU" sz="3200" dirty="0" smtClean="0"/>
              <a:t>A ciklus magjában lévő utasítás addig ismétlődik, amíg a végben lévő feltétel IGAZ (egyes programozási nyelvekben HAMIS-</a:t>
            </a:r>
            <a:r>
              <a:rPr lang="hu-HU" sz="3200" dirty="0" err="1" smtClean="0"/>
              <a:t>ra</a:t>
            </a:r>
            <a:r>
              <a:rPr lang="hu-HU" sz="3200" dirty="0" smtClean="0"/>
              <a:t> ismétel)</a:t>
            </a:r>
          </a:p>
          <a:p>
            <a:pPr lvl="0"/>
            <a:r>
              <a:rPr lang="hu-HU" sz="3200" dirty="0" smtClean="0"/>
              <a:t>Ha a végben lévő feltétel mindig igaz, akkor végtelen ciklust kapunk.</a:t>
            </a:r>
            <a:endParaRPr lang="hu-HU" sz="3200" dirty="0" smtClean="0"/>
          </a:p>
          <a:p>
            <a:pPr lvl="0"/>
            <a:r>
              <a:rPr lang="hu-HU" sz="3200" dirty="0" smtClean="0"/>
              <a:t>Szintaktika:</a:t>
            </a:r>
          </a:p>
          <a:p>
            <a:pPr marL="0" lvl="0" indent="0">
              <a:buNone/>
            </a:pPr>
            <a:r>
              <a:rPr lang="hu-HU" sz="3200" dirty="0" smtClean="0"/>
              <a:t>Ciklus </a:t>
            </a:r>
          </a:p>
          <a:p>
            <a:pPr marL="0" lvl="0" indent="0">
              <a:buNone/>
            </a:pPr>
            <a:r>
              <a:rPr lang="hu-HU" sz="3200" dirty="0"/>
              <a:t>	</a:t>
            </a:r>
            <a:r>
              <a:rPr lang="hu-HU" sz="3200" dirty="0" smtClean="0"/>
              <a:t>utasítások</a:t>
            </a:r>
          </a:p>
          <a:p>
            <a:pPr marL="0" lvl="0" indent="0">
              <a:buNone/>
            </a:pPr>
            <a:r>
              <a:rPr lang="hu-HU" sz="3200" dirty="0" smtClean="0"/>
              <a:t>amíg feltétel</a:t>
            </a:r>
            <a:endParaRPr lang="hu-HU" sz="3200" dirty="0" smtClean="0"/>
          </a:p>
        </p:txBody>
      </p:sp>
      <p:sp>
        <p:nvSpPr>
          <p:cNvPr id="5" name="Lefelé nyíl 4"/>
          <p:cNvSpPr/>
          <p:nvPr/>
        </p:nvSpPr>
        <p:spPr>
          <a:xfrm>
            <a:off x="10219322" y="1503308"/>
            <a:ext cx="274321" cy="496387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/>
          <p:cNvSpPr/>
          <p:nvPr/>
        </p:nvSpPr>
        <p:spPr>
          <a:xfrm rot="16200000" flipV="1">
            <a:off x="11407743" y="2470929"/>
            <a:ext cx="163347" cy="4180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/>
          <p:cNvSpPr/>
          <p:nvPr/>
        </p:nvSpPr>
        <p:spPr>
          <a:xfrm>
            <a:off x="11715108" y="254001"/>
            <a:ext cx="153675" cy="25845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Rombusz 10"/>
          <p:cNvSpPr/>
          <p:nvPr/>
        </p:nvSpPr>
        <p:spPr>
          <a:xfrm>
            <a:off x="9402893" y="1968010"/>
            <a:ext cx="1907177" cy="142385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feltétel</a:t>
            </a:r>
            <a:endParaRPr lang="hu-HU" dirty="0"/>
          </a:p>
        </p:txBody>
      </p:sp>
      <p:sp>
        <p:nvSpPr>
          <p:cNvPr id="12" name="Téglalap 11"/>
          <p:cNvSpPr/>
          <p:nvPr/>
        </p:nvSpPr>
        <p:spPr>
          <a:xfrm>
            <a:off x="9732732" y="1205261"/>
            <a:ext cx="1521823" cy="36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utasítás</a:t>
            </a:r>
            <a:endParaRPr lang="hu-HU" dirty="0"/>
          </a:p>
        </p:txBody>
      </p:sp>
      <p:sp>
        <p:nvSpPr>
          <p:cNvPr id="13" name="Lefelé nyíl 12"/>
          <p:cNvSpPr/>
          <p:nvPr/>
        </p:nvSpPr>
        <p:spPr>
          <a:xfrm>
            <a:off x="10273798" y="3334661"/>
            <a:ext cx="235130" cy="80644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Lefelé nyíl 14"/>
          <p:cNvSpPr/>
          <p:nvPr/>
        </p:nvSpPr>
        <p:spPr>
          <a:xfrm>
            <a:off x="10223406" y="254001"/>
            <a:ext cx="270238" cy="49454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Balra nyíl 16"/>
          <p:cNvSpPr/>
          <p:nvPr/>
        </p:nvSpPr>
        <p:spPr>
          <a:xfrm>
            <a:off x="10371909" y="204368"/>
            <a:ext cx="1387102" cy="246127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8" name="Szövegdoboz 17"/>
          <p:cNvSpPr txBox="1"/>
          <p:nvPr/>
        </p:nvSpPr>
        <p:spPr>
          <a:xfrm>
            <a:off x="10509447" y="3507051"/>
            <a:ext cx="40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smtClean="0"/>
              <a:t>h</a:t>
            </a:r>
            <a:endParaRPr lang="hu-HU" sz="2400" dirty="0"/>
          </a:p>
        </p:txBody>
      </p:sp>
      <p:sp>
        <p:nvSpPr>
          <p:cNvPr id="19" name="Szövegdoboz 18"/>
          <p:cNvSpPr txBox="1"/>
          <p:nvPr/>
        </p:nvSpPr>
        <p:spPr>
          <a:xfrm>
            <a:off x="11263725" y="2181466"/>
            <a:ext cx="40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smtClean="0"/>
              <a:t>i</a:t>
            </a:r>
            <a:endParaRPr lang="hu-HU" sz="2400" dirty="0"/>
          </a:p>
        </p:txBody>
      </p:sp>
      <p:sp>
        <p:nvSpPr>
          <p:cNvPr id="20" name="Ellipszis 19"/>
          <p:cNvSpPr/>
          <p:nvPr/>
        </p:nvSpPr>
        <p:spPr>
          <a:xfrm>
            <a:off x="10251978" y="243250"/>
            <a:ext cx="182879" cy="1828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Lefelé nyíl 20"/>
          <p:cNvSpPr/>
          <p:nvPr/>
        </p:nvSpPr>
        <p:spPr>
          <a:xfrm>
            <a:off x="10266906" y="908376"/>
            <a:ext cx="226737" cy="31845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Szövegdoboz 21"/>
          <p:cNvSpPr txBox="1"/>
          <p:nvPr/>
        </p:nvSpPr>
        <p:spPr>
          <a:xfrm>
            <a:off x="10180248" y="517709"/>
            <a:ext cx="40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 smtClean="0"/>
              <a:t>…</a:t>
            </a:r>
            <a:endParaRPr lang="hu-HU" sz="2400" dirty="0"/>
          </a:p>
        </p:txBody>
      </p:sp>
      <p:sp>
        <p:nvSpPr>
          <p:cNvPr id="23" name="Téglalap 22"/>
          <p:cNvSpPr/>
          <p:nvPr/>
        </p:nvSpPr>
        <p:spPr>
          <a:xfrm>
            <a:off x="6504122" y="4883117"/>
            <a:ext cx="2625634" cy="16851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feltétel</a:t>
            </a:r>
            <a:endParaRPr lang="hu-HU" dirty="0"/>
          </a:p>
        </p:txBody>
      </p:sp>
      <p:sp>
        <p:nvSpPr>
          <p:cNvPr id="24" name="Téglalap 23"/>
          <p:cNvSpPr/>
          <p:nvPr/>
        </p:nvSpPr>
        <p:spPr>
          <a:xfrm>
            <a:off x="6504122" y="4856991"/>
            <a:ext cx="1240971" cy="679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utasítás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47402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Szemantika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Végrehajtódnak a magban lévő utasítások.</a:t>
            </a:r>
          </a:p>
          <a:p>
            <a:r>
              <a:rPr lang="hu-HU" dirty="0" err="1" smtClean="0"/>
              <a:t>Kiértékelődik</a:t>
            </a:r>
            <a:r>
              <a:rPr lang="hu-HU" dirty="0" smtClean="0"/>
              <a:t> a feltétel.</a:t>
            </a:r>
          </a:p>
          <a:p>
            <a:pPr lvl="1"/>
            <a:r>
              <a:rPr lang="hu-HU" dirty="0" smtClean="0"/>
              <a:t>Ha igaz, akkor a mag újra </a:t>
            </a:r>
            <a:r>
              <a:rPr lang="hu-HU" dirty="0" err="1" smtClean="0"/>
              <a:t>végrehajtódik</a:t>
            </a:r>
            <a:r>
              <a:rPr lang="hu-HU" dirty="0" smtClean="0"/>
              <a:t>, majd újra </a:t>
            </a:r>
            <a:r>
              <a:rPr lang="hu-HU" dirty="0" err="1" smtClean="0"/>
              <a:t>kiértékelődik</a:t>
            </a:r>
            <a:r>
              <a:rPr lang="hu-HU" dirty="0" smtClean="0"/>
              <a:t> a feltétel.</a:t>
            </a:r>
          </a:p>
          <a:p>
            <a:pPr lvl="1"/>
            <a:r>
              <a:rPr lang="hu-HU" dirty="0" smtClean="0"/>
              <a:t>Ha hamis, akkor a ciklus utáni utasítással folytatódik.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92974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731521"/>
            <a:ext cx="10561319" cy="599948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3200" b="1" dirty="0" smtClean="0"/>
              <a:t>Olvassunk be számokat addig, ameddig 0-t nem írunk be, és az algoritmus adja össze a beolvasott számokat, majd írja ki az eredményt!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összeg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Ciklus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Be: x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S+=x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amíg x!=0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Ki: 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</p:spTree>
    <p:extLst>
      <p:ext uri="{BB962C8B-B14F-4D97-AF65-F5344CB8AC3E}">
        <p14:creationId xmlns:p14="http://schemas.microsoft.com/office/powerpoint/2010/main" val="52270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04503"/>
            <a:ext cx="10131425" cy="503646"/>
          </a:xfrm>
        </p:spPr>
        <p:txBody>
          <a:bodyPr>
            <a:normAutofit fontScale="90000"/>
          </a:bodyPr>
          <a:lstStyle/>
          <a:p>
            <a:r>
              <a:rPr lang="hu-HU" dirty="0" smtClean="0"/>
              <a:t>Példa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1" y="731521"/>
            <a:ext cx="10561319" cy="599948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hu-HU" sz="3200" b="1" dirty="0"/>
              <a:t>Írj algoritmust, amely egy kocka feldobását szimulálja! Addig dobunk fel két kockát, ameddig a dobások összege 10 nem lesz. Mennyi lépésre van szükség ehhez?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kocka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db=0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Ciklus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x=véletlen(1,6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	y=véletlen(1,6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s=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db++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amíg s!=10			</a:t>
            </a:r>
            <a:r>
              <a:rPr lang="hu-HU" sz="3200" dirty="0" smtClean="0">
                <a:cs typeface="Courier New" panose="02070309020205020404" pitchFamily="49" charset="0"/>
              </a:rPr>
              <a:t>(az is írható, hogy 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hu-HU" sz="3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x+y</a:t>
            </a: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)!=10</a:t>
            </a:r>
            <a:r>
              <a:rPr lang="hu-HU" sz="3200" dirty="0" smtClean="0">
                <a:cs typeface="Courier New" panose="02070309020205020404" pitchFamily="49" charset="0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Ki: db</a:t>
            </a:r>
          </a:p>
          <a:p>
            <a:pPr marL="0" indent="0">
              <a:spcAft>
                <a:spcPts val="0"/>
              </a:spcAft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vége</a:t>
            </a:r>
          </a:p>
        </p:txBody>
      </p:sp>
    </p:spTree>
    <p:extLst>
      <p:ext uri="{BB962C8B-B14F-4D97-AF65-F5344CB8AC3E}">
        <p14:creationId xmlns:p14="http://schemas.microsoft.com/office/powerpoint/2010/main" val="3571903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1462</TotalTime>
  <Words>159</Words>
  <Application>Microsoft Office PowerPoint</Application>
  <PresentationFormat>Szélesvásznú</PresentationFormat>
  <Paragraphs>43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Égi</vt:lpstr>
      <vt:lpstr>Hátultesztelő ciklus</vt:lpstr>
      <vt:lpstr>Szemantika</vt:lpstr>
      <vt:lpstr>Példa</vt:lpstr>
      <vt:lpstr>Példa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396</cp:revision>
  <dcterms:created xsi:type="dcterms:W3CDTF">2014-11-05T16:55:57Z</dcterms:created>
  <dcterms:modified xsi:type="dcterms:W3CDTF">2016-01-01T19:12:08Z</dcterms:modified>
</cp:coreProperties>
</file>