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0" r:id="rId1"/>
  </p:sldMasterIdLst>
  <p:handoutMasterIdLst>
    <p:handoutMasterId r:id="rId6"/>
  </p:handoutMasterIdLst>
  <p:sldIdLst>
    <p:sldId id="305" r:id="rId2"/>
    <p:sldId id="306" r:id="rId3"/>
    <p:sldId id="311" r:id="rId4"/>
    <p:sldId id="307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7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Közepesen sötét stílu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2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34" y="96"/>
      </p:cViewPr>
      <p:guideLst>
        <p:guide orient="horz" pos="238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126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B60BE-C4F1-405D-B022-EC73AF30A1CB}" type="datetimeFigureOut">
              <a:rPr lang="hu-HU" smtClean="0"/>
              <a:pPr/>
              <a:t>2020. 11. 12.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C1FD9-8148-4354-8614-90D9F03A1422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1544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163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54000"/>
            <a:ext cx="10131425" cy="1456267"/>
          </a:xfrm>
        </p:spPr>
        <p:txBody>
          <a:bodyPr/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710267"/>
            <a:ext cx="10131425" cy="5020733"/>
          </a:xfrm>
        </p:spPr>
        <p:txBody>
          <a:bodyPr anchor="ctr"/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8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047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230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225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591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97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92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869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0958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403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209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624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9643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22751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4979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11/12/2020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568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1270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583267"/>
            <a:ext cx="10131425" cy="513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1915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4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1451771" cy="660400"/>
          </a:xfrm>
        </p:spPr>
        <p:txBody>
          <a:bodyPr>
            <a:normAutofit/>
          </a:bodyPr>
          <a:lstStyle/>
          <a:p>
            <a:r>
              <a:rPr lang="hu-HU" sz="3600" dirty="0"/>
              <a:t>Az objektum orientált programozás (OOP) alapjai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 lnSpcReduction="10000"/>
          </a:bodyPr>
          <a:lstStyle/>
          <a:p>
            <a:r>
              <a:rPr lang="hu-HU" b="1" u="sng" dirty="0">
                <a:cs typeface="Courier New" panose="02070309020205020404" pitchFamily="49" charset="0"/>
              </a:rPr>
              <a:t>OOP:</a:t>
            </a:r>
            <a:r>
              <a:rPr lang="hu-HU" dirty="0">
                <a:cs typeface="Courier New" panose="02070309020205020404" pitchFamily="49" charset="0"/>
              </a:rPr>
              <a:t> Adatokat és műveleteket tartalmazó objektumokat hozunk létre, és ezeknek az egymással való kapcsolatát alakítjuk ki. A műveleteket objektumon belül végezzük.</a:t>
            </a:r>
            <a:endParaRPr lang="hu-HU" b="1" u="sng" dirty="0">
              <a:cs typeface="Courier New" panose="02070309020205020404" pitchFamily="49" charset="0"/>
            </a:endParaRPr>
          </a:p>
          <a:p>
            <a:r>
              <a:rPr lang="hu-HU" b="1" u="sng" dirty="0">
                <a:cs typeface="Courier New" panose="02070309020205020404" pitchFamily="49" charset="0"/>
              </a:rPr>
              <a:t>Objektum</a:t>
            </a:r>
            <a:r>
              <a:rPr lang="hu-HU" dirty="0">
                <a:cs typeface="Courier New" panose="02070309020205020404" pitchFamily="49" charset="0"/>
              </a:rPr>
              <a:t>: Az egységbe zárt adatok és műveletek. (A </a:t>
            </a:r>
            <a:r>
              <a:rPr lang="hu-HU" dirty="0" err="1">
                <a:cs typeface="Courier New" panose="02070309020205020404" pitchFamily="49" charset="0"/>
              </a:rPr>
              <a:t>struct</a:t>
            </a:r>
            <a:r>
              <a:rPr lang="hu-HU" dirty="0">
                <a:cs typeface="Courier New" panose="02070309020205020404" pitchFamily="49" charset="0"/>
              </a:rPr>
              <a:t> típus egyfajta kiterjesztésének is tekinthető)</a:t>
            </a:r>
          </a:p>
          <a:p>
            <a:r>
              <a:rPr lang="hu-HU" b="1" u="sng" dirty="0">
                <a:cs typeface="Courier New" panose="02070309020205020404" pitchFamily="49" charset="0"/>
              </a:rPr>
              <a:t>Osztály:</a:t>
            </a:r>
            <a:r>
              <a:rPr lang="hu-HU" dirty="0">
                <a:cs typeface="Courier New" panose="02070309020205020404" pitchFamily="49" charset="0"/>
              </a:rPr>
              <a:t> Az objektumnak a típusa.</a:t>
            </a:r>
          </a:p>
          <a:p>
            <a:r>
              <a:rPr lang="hu-HU" b="1" u="sng" dirty="0">
                <a:cs typeface="Courier New" panose="02070309020205020404" pitchFamily="49" charset="0"/>
              </a:rPr>
              <a:t>Példányosítás:</a:t>
            </a:r>
            <a:r>
              <a:rPr lang="hu-HU" dirty="0">
                <a:cs typeface="Courier New" panose="02070309020205020404" pitchFamily="49" charset="0"/>
              </a:rPr>
              <a:t> Amikor egy osztály típushoz hozzárendelődik a konkrét objektum. (Olyan mint egy értékadás)</a:t>
            </a:r>
          </a:p>
          <a:p>
            <a:r>
              <a:rPr lang="hu-HU" b="1" u="sng" dirty="0">
                <a:cs typeface="Courier New" panose="02070309020205020404" pitchFamily="49" charset="0"/>
              </a:rPr>
              <a:t>Adatmező:</a:t>
            </a:r>
            <a:r>
              <a:rPr lang="hu-HU" dirty="0">
                <a:cs typeface="Courier New" panose="02070309020205020404" pitchFamily="49" charset="0"/>
              </a:rPr>
              <a:t> Az osztályban tárol adatok (változók).</a:t>
            </a:r>
          </a:p>
          <a:p>
            <a:r>
              <a:rPr lang="hu-HU" b="1" u="sng" dirty="0">
                <a:cs typeface="Courier New" panose="02070309020205020404" pitchFamily="49" charset="0"/>
              </a:rPr>
              <a:t>Metódus: </a:t>
            </a:r>
            <a:r>
              <a:rPr lang="hu-HU" dirty="0">
                <a:cs typeface="Courier New" panose="02070309020205020404" pitchFamily="49" charset="0"/>
              </a:rPr>
              <a:t>Az osztályban lévő műveletek. (Eljárás, függvény)</a:t>
            </a:r>
          </a:p>
        </p:txBody>
      </p:sp>
    </p:spTree>
    <p:extLst>
      <p:ext uri="{BB962C8B-B14F-4D97-AF65-F5344CB8AC3E}">
        <p14:creationId xmlns:p14="http://schemas.microsoft.com/office/powerpoint/2010/main" val="965767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1451771" cy="660400"/>
          </a:xfrm>
        </p:spPr>
        <p:txBody>
          <a:bodyPr>
            <a:normAutofit fontScale="90000"/>
          </a:bodyPr>
          <a:lstStyle/>
          <a:p>
            <a:r>
              <a:rPr lang="hu-HU" dirty="0"/>
              <a:t>Az objektum orientált programozás alapjai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 lnSpcReduction="10000"/>
          </a:bodyPr>
          <a:lstStyle/>
          <a:p>
            <a:endParaRPr lang="hu-HU" b="1" u="sng" dirty="0">
              <a:cs typeface="Courier New" panose="02070309020205020404" pitchFamily="49" charset="0"/>
            </a:endParaRPr>
          </a:p>
          <a:p>
            <a:r>
              <a:rPr lang="hu-HU" b="1" u="sng" dirty="0">
                <a:cs typeface="Courier New" panose="02070309020205020404" pitchFamily="49" charset="0"/>
              </a:rPr>
              <a:t>Öröklődés (kiterjesztés)</a:t>
            </a:r>
            <a:r>
              <a:rPr lang="hu-HU" dirty="0">
                <a:cs typeface="Courier New" panose="02070309020205020404" pitchFamily="49" charset="0"/>
              </a:rPr>
              <a:t>: Egy adott osztályból újabb osztály létrehozása úgy, hogy az adatmezők és metódusok megmaradnak, de újabbakkal </a:t>
            </a:r>
            <a:r>
              <a:rPr lang="hu-HU">
                <a:cs typeface="Courier New" panose="02070309020205020404" pitchFamily="49" charset="0"/>
              </a:rPr>
              <a:t>is ki lehet </a:t>
            </a:r>
            <a:r>
              <a:rPr lang="hu-HU" dirty="0">
                <a:cs typeface="Courier New" panose="02070309020205020404" pitchFamily="49" charset="0"/>
              </a:rPr>
              <a:t>egészíteni.</a:t>
            </a:r>
          </a:p>
          <a:p>
            <a:r>
              <a:rPr lang="hu-HU" b="1" u="sng" dirty="0">
                <a:cs typeface="Courier New" panose="02070309020205020404" pitchFamily="49" charset="0"/>
              </a:rPr>
              <a:t>Származtatott osztály: </a:t>
            </a:r>
            <a:r>
              <a:rPr lang="hu-HU" dirty="0">
                <a:cs typeface="Courier New" panose="02070309020205020404" pitchFamily="49" charset="0"/>
              </a:rPr>
              <a:t>Az öröklődéskor létrejövő osztály.</a:t>
            </a:r>
          </a:p>
          <a:p>
            <a:r>
              <a:rPr lang="hu-HU" b="1" u="sng" dirty="0">
                <a:cs typeface="Courier New" panose="02070309020205020404" pitchFamily="49" charset="0"/>
              </a:rPr>
              <a:t>Konstruktor:</a:t>
            </a:r>
            <a:r>
              <a:rPr lang="hu-HU" dirty="0">
                <a:cs typeface="Courier New" panose="02070309020205020404" pitchFamily="49" charset="0"/>
              </a:rPr>
              <a:t> Az objektum létrehozásakor lefutó művelet. Egy osztályhoz lehet többet is definiálni.</a:t>
            </a:r>
          </a:p>
          <a:p>
            <a:r>
              <a:rPr lang="hu-HU" b="1" u="sng" dirty="0" err="1">
                <a:cs typeface="Courier New" panose="02070309020205020404" pitchFamily="49" charset="0"/>
              </a:rPr>
              <a:t>Destruktor</a:t>
            </a:r>
            <a:r>
              <a:rPr lang="hu-HU" b="1" u="sng" dirty="0">
                <a:cs typeface="Courier New" panose="02070309020205020404" pitchFamily="49" charset="0"/>
              </a:rPr>
              <a:t>:</a:t>
            </a:r>
            <a:r>
              <a:rPr lang="hu-HU" dirty="0">
                <a:cs typeface="Courier New" panose="02070309020205020404" pitchFamily="49" charset="0"/>
              </a:rPr>
              <a:t> Az objektum megszűnésekor lefutó művelet.</a:t>
            </a:r>
          </a:p>
          <a:p>
            <a:r>
              <a:rPr lang="hu-HU" b="1" u="sng" dirty="0">
                <a:cs typeface="Courier New" panose="02070309020205020404" pitchFamily="49" charset="0"/>
              </a:rPr>
              <a:t>Túlterhelés:</a:t>
            </a:r>
            <a:r>
              <a:rPr lang="hu-HU" dirty="0">
                <a:cs typeface="Courier New" panose="02070309020205020404" pitchFamily="49" charset="0"/>
              </a:rPr>
              <a:t> Amikor egy metódust többféleképpen is megadunk (különböző paraméterekkel)</a:t>
            </a:r>
          </a:p>
        </p:txBody>
      </p:sp>
    </p:spTree>
    <p:extLst>
      <p:ext uri="{BB962C8B-B14F-4D97-AF65-F5344CB8AC3E}">
        <p14:creationId xmlns:p14="http://schemas.microsoft.com/office/powerpoint/2010/main" val="4280623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1451771" cy="660400"/>
          </a:xfrm>
        </p:spPr>
        <p:txBody>
          <a:bodyPr>
            <a:normAutofit fontScale="90000"/>
          </a:bodyPr>
          <a:lstStyle/>
          <a:p>
            <a:r>
              <a:rPr lang="hu-HU" dirty="0"/>
              <a:t>Osztály definiálása C#</a:t>
            </a:r>
            <a:r>
              <a:rPr lang="hu-HU" dirty="0" err="1"/>
              <a:t>-ban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Osztálynév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metódusok, adatmezők definiálása.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hu-HU" b="1" u="sng" dirty="0">
                <a:cs typeface="Courier New" panose="02070309020205020404" pitchFamily="49" charset="0"/>
              </a:rPr>
              <a:t>Adatmező megadása:</a:t>
            </a:r>
            <a:r>
              <a:rPr lang="hu-HU" dirty="0">
                <a:cs typeface="Courier New" panose="02070309020205020404" pitchFamily="49" charset="0"/>
              </a:rPr>
              <a:t> 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módosító típus név1,név2,…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hu-HU" dirty="0">
                <a:cs typeface="Courier New" panose="02070309020205020404" pitchFamily="49" charset="0"/>
              </a:rPr>
            </a:br>
            <a:r>
              <a:rPr lang="hu-HU" b="1" u="sng" dirty="0">
                <a:cs typeface="Courier New" panose="02070309020205020404" pitchFamily="49" charset="0"/>
              </a:rPr>
              <a:t>Példányosítás:</a:t>
            </a:r>
            <a:br>
              <a:rPr lang="hu-HU" dirty="0"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Osztálynév objektumnév=</a:t>
            </a: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Osztálynév(paraméterek);</a:t>
            </a:r>
          </a:p>
          <a:p>
            <a:pPr marL="0" indent="0">
              <a:buNone/>
            </a:pPr>
            <a:r>
              <a:rPr lang="hu-HU" dirty="0">
                <a:cs typeface="Courier New" panose="02070309020205020404" pitchFamily="49" charset="0"/>
              </a:rPr>
              <a:t>Előfordulhat, hogy a két osztálynév különböző. Példa később.</a:t>
            </a:r>
          </a:p>
          <a:p>
            <a:pPr marL="0" indent="0">
              <a:buNone/>
            </a:pPr>
            <a:r>
              <a:rPr lang="hu-HU" dirty="0">
                <a:cs typeface="Courier New" panose="02070309020205020404" pitchFamily="49" charset="0"/>
              </a:rPr>
              <a:t>Hivatkozás az aktuális példányra: </a:t>
            </a:r>
            <a:r>
              <a:rPr lang="hu-HU" dirty="0" err="1">
                <a:cs typeface="Courier New" panose="02070309020205020404" pitchFamily="49" charset="0"/>
              </a:rPr>
              <a:t>this</a:t>
            </a:r>
            <a:endParaRPr lang="hu-HU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956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1451771" cy="660400"/>
          </a:xfrm>
        </p:spPr>
        <p:txBody>
          <a:bodyPr>
            <a:normAutofit fontScale="90000"/>
          </a:bodyPr>
          <a:lstStyle/>
          <a:p>
            <a:r>
              <a:rPr lang="hu-HU" dirty="0" err="1"/>
              <a:t>KonstruktorOK</a:t>
            </a:r>
            <a:r>
              <a:rPr lang="hu-HU" dirty="0"/>
              <a:t> megadása osztályhoz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7235" y="660400"/>
            <a:ext cx="12057529" cy="60437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Osztálynév(paraméterek1)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	utasítások;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hu-HU" dirty="0">
                <a:cs typeface="Courier New" panose="02070309020205020404" pitchFamily="49" charset="0"/>
              </a:rPr>
              <a:t>Ha szeretnénk több konstruktort adni</a:t>
            </a:r>
          </a:p>
          <a:p>
            <a:pPr marL="0" indent="0">
              <a:buNone/>
            </a:pPr>
            <a:r>
              <a:rPr lang="hu-HU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 Osztálynév(paraméterek2)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	utasítások;</a:t>
            </a:r>
            <a:b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hu-HU" dirty="0">
                <a:cs typeface="Courier New" panose="02070309020205020404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9026538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Égi">
  <a:themeElements>
    <a:clrScheme name="Égi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Égi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Égi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TC103457452[[fn=Égi]]</Template>
  <TotalTime>1533</TotalTime>
  <Words>264</Words>
  <Application>Microsoft Office PowerPoint</Application>
  <PresentationFormat>Szélesvásznú</PresentationFormat>
  <Paragraphs>24</Paragraphs>
  <Slides>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Courier New</vt:lpstr>
      <vt:lpstr>Égi</vt:lpstr>
      <vt:lpstr>Az objektum orientált programozás (OOP) alapjai</vt:lpstr>
      <vt:lpstr>Az objektum orientált programozás alapjai</vt:lpstr>
      <vt:lpstr>Osztály definiálása C#-ban</vt:lpstr>
      <vt:lpstr>KonstruktorOK megadása osztályhoz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Ciklusok a C# nyelvben</dc:title>
  <dc:creator>Péter Miklós</dc:creator>
  <cp:lastModifiedBy>miklos.peter@sulid.hu</cp:lastModifiedBy>
  <cp:revision>558</cp:revision>
  <dcterms:created xsi:type="dcterms:W3CDTF">2014-11-05T16:55:57Z</dcterms:created>
  <dcterms:modified xsi:type="dcterms:W3CDTF">2020-11-12T12:01:21Z</dcterms:modified>
</cp:coreProperties>
</file>