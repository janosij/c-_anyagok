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3"/>
  </p:handout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2020. 10. 21.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err="1"/>
              <a:t>Elöltesztelő</a:t>
            </a:r>
            <a:r>
              <a:rPr lang="hu-HU" dirty="0"/>
              <a:t> ciklus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8753586" cy="5499278"/>
          </a:xfrm>
        </p:spPr>
        <p:txBody>
          <a:bodyPr>
            <a:normAutofit/>
          </a:bodyPr>
          <a:lstStyle/>
          <a:p>
            <a:pPr lvl="0"/>
            <a:r>
              <a:rPr lang="hu-HU" sz="3200" dirty="0"/>
              <a:t>Az ismétlődésre vonatkozó feltétel a ciklus fejében van. </a:t>
            </a:r>
          </a:p>
          <a:p>
            <a:pPr lvl="0"/>
            <a:r>
              <a:rPr lang="hu-HU" sz="3200" dirty="0"/>
              <a:t>Szintaktika:</a:t>
            </a:r>
          </a:p>
          <a:p>
            <a:pPr marL="0" lvl="0" indent="0">
              <a:buNone/>
            </a:pPr>
            <a:r>
              <a:rPr lang="hu-HU" sz="3200" dirty="0"/>
              <a:t>Ciklus amíg feltétel</a:t>
            </a:r>
          </a:p>
          <a:p>
            <a:pPr marL="0" lvl="0" indent="0">
              <a:buNone/>
            </a:pPr>
            <a:r>
              <a:rPr lang="hu-HU" sz="3200" dirty="0"/>
              <a:t>	utasítások</a:t>
            </a:r>
          </a:p>
          <a:p>
            <a:pPr marL="0" lvl="0" indent="0">
              <a:buNone/>
            </a:pPr>
            <a:r>
              <a:rPr lang="hu-HU" sz="3200" dirty="0"/>
              <a:t>Ciklus vége</a:t>
            </a:r>
          </a:p>
        </p:txBody>
      </p:sp>
      <p:sp>
        <p:nvSpPr>
          <p:cNvPr id="5" name="Lefelé nyíl 4"/>
          <p:cNvSpPr/>
          <p:nvPr/>
        </p:nvSpPr>
        <p:spPr>
          <a:xfrm>
            <a:off x="9478734" y="4412569"/>
            <a:ext cx="274321" cy="4963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16200000" flipV="1">
            <a:off x="10678856" y="3507876"/>
            <a:ext cx="163347" cy="418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8041005" y="3635209"/>
            <a:ext cx="172266" cy="20584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10843805" y="3635208"/>
            <a:ext cx="174713" cy="2566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8032024" y="5680594"/>
            <a:ext cx="1721031" cy="1968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Rombusz 10"/>
          <p:cNvSpPr/>
          <p:nvPr/>
        </p:nvSpPr>
        <p:spPr>
          <a:xfrm>
            <a:off x="8662307" y="2990892"/>
            <a:ext cx="1907177" cy="142385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feltétel</a:t>
            </a:r>
          </a:p>
        </p:txBody>
      </p:sp>
      <p:sp>
        <p:nvSpPr>
          <p:cNvPr id="12" name="Téglalap 11"/>
          <p:cNvSpPr/>
          <p:nvPr/>
        </p:nvSpPr>
        <p:spPr>
          <a:xfrm>
            <a:off x="9029700" y="4904046"/>
            <a:ext cx="1521823" cy="36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utasítás</a:t>
            </a:r>
          </a:p>
        </p:txBody>
      </p:sp>
      <p:sp>
        <p:nvSpPr>
          <p:cNvPr id="13" name="Lefelé nyíl 12"/>
          <p:cNvSpPr/>
          <p:nvPr/>
        </p:nvSpPr>
        <p:spPr>
          <a:xfrm>
            <a:off x="9635489" y="5877408"/>
            <a:ext cx="235130" cy="80644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Lefelé nyíl 13"/>
          <p:cNvSpPr/>
          <p:nvPr/>
        </p:nvSpPr>
        <p:spPr>
          <a:xfrm rot="16200000">
            <a:off x="8180441" y="3405055"/>
            <a:ext cx="377630" cy="623654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9684651" y="5272739"/>
            <a:ext cx="185967" cy="6046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Ellipszis 15"/>
          <p:cNvSpPr/>
          <p:nvPr/>
        </p:nvSpPr>
        <p:spPr>
          <a:xfrm>
            <a:off x="9635488" y="5642276"/>
            <a:ext cx="235131" cy="23513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Balra nyíl 16"/>
          <p:cNvSpPr/>
          <p:nvPr/>
        </p:nvSpPr>
        <p:spPr>
          <a:xfrm>
            <a:off x="9829803" y="6100392"/>
            <a:ext cx="1179827" cy="264426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/>
          <p:cNvSpPr txBox="1"/>
          <p:nvPr/>
        </p:nvSpPr>
        <p:spPr>
          <a:xfrm>
            <a:off x="10551523" y="3241153"/>
            <a:ext cx="40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h</a:t>
            </a:r>
          </a:p>
        </p:txBody>
      </p:sp>
      <p:sp>
        <p:nvSpPr>
          <p:cNvPr id="19" name="Szövegdoboz 18"/>
          <p:cNvSpPr txBox="1"/>
          <p:nvPr/>
        </p:nvSpPr>
        <p:spPr>
          <a:xfrm>
            <a:off x="9744075" y="4387840"/>
            <a:ext cx="40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47402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Szemantika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Kiértékelődik</a:t>
            </a:r>
            <a:r>
              <a:rPr lang="hu-HU" dirty="0"/>
              <a:t> a feltétel.</a:t>
            </a:r>
          </a:p>
          <a:p>
            <a:r>
              <a:rPr lang="hu-HU" dirty="0"/>
              <a:t>Ha a feltétel igaz, a magban lévő utasítások végrehajtódnak.</a:t>
            </a:r>
          </a:p>
          <a:p>
            <a:r>
              <a:rPr lang="hu-HU" dirty="0"/>
              <a:t>Utána ismét </a:t>
            </a:r>
            <a:r>
              <a:rPr lang="hu-HU" dirty="0" err="1"/>
              <a:t>kiértékelődik</a:t>
            </a:r>
            <a:r>
              <a:rPr lang="hu-HU" dirty="0"/>
              <a:t> a feltétel.</a:t>
            </a:r>
          </a:p>
          <a:p>
            <a:r>
              <a:rPr lang="hu-HU" dirty="0"/>
              <a:t>Ha a feltétel hamis, akkor a ciklus utáni utasítással folytatódik az algoritmus.</a:t>
            </a:r>
          </a:p>
        </p:txBody>
      </p:sp>
    </p:spTree>
    <p:extLst>
      <p:ext uri="{BB962C8B-B14F-4D97-AF65-F5344CB8AC3E}">
        <p14:creationId xmlns:p14="http://schemas.microsoft.com/office/powerpoint/2010/main" val="3492974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Megjegyzések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Ha a feltétel rögtön hamis, akkor a ciklus magja egyszer sem </a:t>
            </a:r>
            <a:r>
              <a:rPr lang="hu-HU" dirty="0" err="1"/>
              <a:t>hajtódik</a:t>
            </a:r>
            <a:r>
              <a:rPr lang="hu-HU" dirty="0"/>
              <a:t> végre. (Üres ciklus)</a:t>
            </a:r>
          </a:p>
          <a:p>
            <a:r>
              <a:rPr lang="hu-HU" dirty="0"/>
              <a:t>Ha a feltétel mindig igaz marad, akkor a ciklus nem áll le. (Végtelen ciklus)</a:t>
            </a:r>
          </a:p>
          <a:p>
            <a:r>
              <a:rPr lang="hu-HU" dirty="0"/>
              <a:t>A ciklus feltételének módosításáról gondoskodni kell a programozónak a ciklus magjában.</a:t>
            </a:r>
          </a:p>
          <a:p>
            <a:r>
              <a:rPr lang="hu-HU" dirty="0"/>
              <a:t>Ha a ciklusban „ciklusváltozót” használunk, akkor annak kezdőértéket kell adni</a:t>
            </a:r>
          </a:p>
        </p:txBody>
      </p:sp>
    </p:spTree>
    <p:extLst>
      <p:ext uri="{BB962C8B-B14F-4D97-AF65-F5344CB8AC3E}">
        <p14:creationId xmlns:p14="http://schemas.microsoft.com/office/powerpoint/2010/main" val="36476285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193040"/>
            <a:ext cx="10561319" cy="6537961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b="1" dirty="0"/>
              <a:t>1-től n-ig a számok kiírása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számok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i=1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i&lt;=n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Ki:i</a:t>
            </a:r>
            <a:endParaRPr lang="hu-HU" sz="3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	i++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b="1" dirty="0">
                <a:cs typeface="Courier New" panose="02070309020205020404" pitchFamily="49" charset="0"/>
              </a:rPr>
              <a:t>Futás lépéseinél a ciklus feltétele n=3 esetben: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cs typeface="Courier New" panose="02070309020205020404" pitchFamily="49" charset="0"/>
              </a:rPr>
              <a:t>		i		feltétel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cs typeface="Courier New" panose="02070309020205020404" pitchFamily="49" charset="0"/>
              </a:rPr>
              <a:t>		1		IGAZ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cs typeface="Courier New" panose="02070309020205020404" pitchFamily="49" charset="0"/>
              </a:rPr>
              <a:t>		2		IGAZ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cs typeface="Courier New" panose="02070309020205020404" pitchFamily="49" charset="0"/>
              </a:rPr>
              <a:t>		3		IGAZ</a:t>
            </a:r>
          </a:p>
          <a:p>
            <a:pPr marL="0" indent="0">
              <a:lnSpc>
                <a:spcPct val="80000"/>
              </a:lnSpc>
              <a:spcAft>
                <a:spcPts val="0"/>
              </a:spcAft>
              <a:buNone/>
            </a:pPr>
            <a:r>
              <a:rPr lang="hu-HU" sz="3000" dirty="0">
                <a:cs typeface="Courier New" panose="02070309020205020404" pitchFamily="49" charset="0"/>
              </a:rPr>
              <a:t>		4		HAMIS</a:t>
            </a:r>
          </a:p>
        </p:txBody>
      </p:sp>
    </p:spTree>
    <p:extLst>
      <p:ext uri="{BB962C8B-B14F-4D97-AF65-F5344CB8AC3E}">
        <p14:creationId xmlns:p14="http://schemas.microsoft.com/office/powerpoint/2010/main" val="3413087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731521"/>
            <a:ext cx="10561319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3200" b="1" dirty="0"/>
              <a:t>Olvassunk be egy „a” és egy b egész számot, majd írjuk ki az „a” és „b” közötti számok összegét! (Feltesszük, hogy a&lt;b)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összeg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Be: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S=0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i=a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i&lt;=b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s+=i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i++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52270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0629" y="731521"/>
            <a:ext cx="12061371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Olvassunk be egy n pozitív egész számot, majd határozzuk meg a szám prímtényezős felbontását!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összeg										</a:t>
            </a:r>
            <a:r>
              <a:rPr lang="hu-HU" sz="2800" dirty="0">
                <a:cs typeface="Courier New" panose="02070309020205020404" pitchFamily="49" charset="0"/>
              </a:rPr>
              <a:t>Példa n=24 esetén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Be: n														</a:t>
            </a:r>
            <a:r>
              <a:rPr lang="hu-HU" sz="2800" dirty="0">
                <a:cs typeface="Courier New" panose="02070309020205020404" pitchFamily="49" charset="0"/>
              </a:rPr>
              <a:t>n értéke kiírás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n!=1									</a:t>
            </a:r>
            <a:r>
              <a:rPr lang="hu-HU" sz="2800" dirty="0">
                <a:cs typeface="Courier New" panose="02070309020205020404" pitchFamily="49" charset="0"/>
              </a:rPr>
              <a:t>24				2*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cs typeface="Courier New" panose="02070309020205020404" pitchFamily="49" charset="0"/>
              </a:rPr>
              <a:t>	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i=2												</a:t>
            </a:r>
            <a:r>
              <a:rPr lang="hu-HU" sz="2800" dirty="0">
                <a:cs typeface="Courier New" panose="02070309020205020404" pitchFamily="49" charset="0"/>
              </a:rPr>
              <a:t>		12				2*2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Ciklus amíg i&lt;=n &amp;&amp;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n%i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==0			</a:t>
            </a:r>
            <a:r>
              <a:rPr lang="hu-HU" sz="2800" dirty="0">
                <a:cs typeface="Courier New" panose="02070309020205020404" pitchFamily="49" charset="0"/>
              </a:rPr>
              <a:t>6				2*2*2*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i++													</a:t>
            </a:r>
            <a:r>
              <a:rPr lang="hu-HU" sz="2800" dirty="0">
                <a:cs typeface="Courier New" panose="02070309020205020404" pitchFamily="49" charset="0"/>
              </a:rPr>
              <a:t>3				2*2*2*3*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Ciklus vége										</a:t>
            </a:r>
            <a:r>
              <a:rPr lang="hu-HU" sz="2800" dirty="0">
                <a:cs typeface="Courier New" panose="02070309020205020404" pitchFamily="49" charset="0"/>
              </a:rPr>
              <a:t>1				2*2*2*3*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Ki: i”*”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n/=i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2570341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0629" y="731521"/>
            <a:ext cx="12061371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Írj algoritmust, amely meghatározza, hogy mennyi számot kell összeadni 1-től kezdve, hogy az eredmény n-nél nagyobb legyen!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összeg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S=0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i=1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S&lt;=n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S+=i				(vagy S=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S+i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i++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Ki: i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2653881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0629" y="731521"/>
            <a:ext cx="12061371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Írj algoritmust, amely jegyeket olvas be addig, ameddig 0-t nem írunk be, majd meghatározza a jegyek átlagát!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jegyek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S=0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db=0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Be: jegy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jegy!=0		</a:t>
            </a:r>
            <a:r>
              <a:rPr lang="hu-HU" sz="2800" dirty="0">
                <a:cs typeface="Courier New" panose="02070309020205020404" pitchFamily="49" charset="0"/>
              </a:rPr>
              <a:t>(ameddig a jegy nem 0)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S+=jegy						</a:t>
            </a:r>
            <a:r>
              <a:rPr lang="hu-HU" sz="2800" dirty="0">
                <a:cs typeface="Courier New" panose="02070309020205020404" pitchFamily="49" charset="0"/>
              </a:rPr>
              <a:t>(a jegyek összeadása)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db++							</a:t>
            </a:r>
            <a:r>
              <a:rPr lang="hu-HU" sz="2800" dirty="0">
                <a:cs typeface="Courier New" panose="02070309020205020404" pitchFamily="49" charset="0"/>
              </a:rPr>
              <a:t>(a </a:t>
            </a:r>
            <a:r>
              <a:rPr lang="hu-HU" sz="2800" dirty="0" err="1">
                <a:cs typeface="Courier New" panose="02070309020205020404" pitchFamily="49" charset="0"/>
              </a:rPr>
              <a:t>db-ben</a:t>
            </a:r>
            <a:r>
              <a:rPr lang="hu-HU" sz="2800" dirty="0">
                <a:cs typeface="Courier New" panose="02070309020205020404" pitchFamily="49" charset="0"/>
              </a:rPr>
              <a:t> összeszámoljuk, hogy mennyi jegy van)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Be: jegy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Ki: S/db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3502787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0629" y="731521"/>
            <a:ext cx="12061371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Írj algoritmust, amely jegyeket olvas be addig, ameddig 0-t nem írunk be, majd meghatározza a jegyek átlagát!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jegyek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S=0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db=0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Be: jegy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jegy!=0		</a:t>
            </a:r>
            <a:r>
              <a:rPr lang="hu-HU" sz="2800" dirty="0">
                <a:cs typeface="Courier New" panose="02070309020205020404" pitchFamily="49" charset="0"/>
              </a:rPr>
              <a:t>(ameddig a jegy nem 0)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S+=jegy						</a:t>
            </a:r>
            <a:r>
              <a:rPr lang="hu-HU" sz="2800" dirty="0">
                <a:cs typeface="Courier New" panose="02070309020205020404" pitchFamily="49" charset="0"/>
              </a:rPr>
              <a:t>(a jegyek összeadása)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db++							</a:t>
            </a:r>
            <a:r>
              <a:rPr lang="hu-HU" sz="2800" dirty="0">
                <a:cs typeface="Courier New" panose="02070309020205020404" pitchFamily="49" charset="0"/>
              </a:rPr>
              <a:t>(a </a:t>
            </a:r>
            <a:r>
              <a:rPr lang="hu-HU" sz="2800" dirty="0" err="1">
                <a:cs typeface="Courier New" panose="02070309020205020404" pitchFamily="49" charset="0"/>
              </a:rPr>
              <a:t>db-ben</a:t>
            </a:r>
            <a:r>
              <a:rPr lang="hu-HU" sz="2800" dirty="0">
                <a:cs typeface="Courier New" panose="02070309020205020404" pitchFamily="49" charset="0"/>
              </a:rPr>
              <a:t> összeszámoljuk, hogy mennyi jegy van)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Be: jegy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Ki: S/db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2794278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0629" y="731521"/>
            <a:ext cx="12061371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Írj algoritmust, amely egy kocka feldobását szimulálja! Addig dobunk fel egy kockát, ameddig 6-ot nem dobunk. Mennyi lépésre van szükség ehhez?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Véletlen szám generálása: véletlen(</a:t>
            </a:r>
            <a:r>
              <a:rPr lang="hu-HU" sz="2800" b="1" dirty="0" err="1"/>
              <a:t>alsó,felső</a:t>
            </a:r>
            <a:r>
              <a:rPr lang="hu-HU" sz="2800" b="1" dirty="0"/>
              <a:t>) a beolvasás helyett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kocka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x=véletlen(1,6)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db=1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x!=6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x=véletlen(1,6)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db++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Ki: db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1074129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0629" y="731521"/>
            <a:ext cx="12061371" cy="599948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b="1" dirty="0"/>
              <a:t>Írj algoritmust, amely egy kocka feldobását szimulálja! Addig dobunk fel két kockát, ameddig a dobások összege 10 nem lesz. Mennyi lépésre van szükség ehhez?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kocka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x=véletlen(1,6)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y=véletlen(1,6)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db=1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amíg 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)!=10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x=véletlen(1,6)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y=véletlen(1,6)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db++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Ki: db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11510609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1482</TotalTime>
  <Words>910</Words>
  <Application>Microsoft Office PowerPoint</Application>
  <PresentationFormat>Szélesvásznú</PresentationFormat>
  <Paragraphs>124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Égi</vt:lpstr>
      <vt:lpstr>Elöltesztelő ciklus</vt:lpstr>
      <vt:lpstr>Szemantika</vt:lpstr>
      <vt:lpstr>Megjegyzések</vt:lpstr>
      <vt:lpstr>Példa</vt:lpstr>
      <vt:lpstr>Példa</vt:lpstr>
      <vt:lpstr>Példa</vt:lpstr>
      <vt:lpstr>Példa</vt:lpstr>
      <vt:lpstr>Példa</vt:lpstr>
      <vt:lpstr>Példa</vt:lpstr>
      <vt:lpstr>Példa</vt:lpstr>
      <vt:lpstr>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386</cp:revision>
  <dcterms:created xsi:type="dcterms:W3CDTF">2014-11-05T16:55:57Z</dcterms:created>
  <dcterms:modified xsi:type="dcterms:W3CDTF">2020-10-21T08:50:26Z</dcterms:modified>
</cp:coreProperties>
</file>