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7"/>
  </p:handoutMasterIdLst>
  <p:sldIdLst>
    <p:sldId id="305" r:id="rId2"/>
    <p:sldId id="306" r:id="rId3"/>
    <p:sldId id="307" r:id="rId4"/>
    <p:sldId id="308" r:id="rId5"/>
    <p:sldId id="30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2020. 04. 07.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Állománykezelés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766482"/>
            <a:ext cx="12057529" cy="5937623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Az elejére bele kell írni, hogy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System.IO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hu-HU" dirty="0">
                <a:cs typeface="Courier New" panose="02070309020205020404" pitchFamily="49" charset="0"/>
              </a:rPr>
              <a:t>Fájl megnyitása olvasásra: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FileStream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azonosító=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FileStream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(”Elérési út”,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FileMode.mód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hu-HU" dirty="0">
                <a:cs typeface="Courier New" panose="02070309020205020404" pitchFamily="49" charset="0"/>
              </a:rPr>
              <a:t>A mód a következő lehet:</a:t>
            </a:r>
          </a:p>
          <a:p>
            <a:pPr lvl="1"/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hu-HU" b="1" dirty="0">
                <a:cs typeface="Courier New" panose="02070309020205020404" pitchFamily="49" charset="0"/>
              </a:rPr>
              <a:t>:</a:t>
            </a:r>
            <a:r>
              <a:rPr lang="hu-HU" dirty="0">
                <a:cs typeface="Courier New" panose="02070309020205020404" pitchFamily="49" charset="0"/>
              </a:rPr>
              <a:t> Létrehoz egy új fájlt úgy, hogy felülírja, ha már létezik.</a:t>
            </a:r>
          </a:p>
          <a:p>
            <a:pPr lvl="1"/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CreateNew</a:t>
            </a:r>
            <a:r>
              <a:rPr lang="hu-HU" b="1" dirty="0">
                <a:cs typeface="Courier New" panose="02070309020205020404" pitchFamily="49" charset="0"/>
              </a:rPr>
              <a:t>:</a:t>
            </a:r>
            <a:r>
              <a:rPr lang="hu-HU" dirty="0">
                <a:cs typeface="Courier New" panose="02070309020205020404" pitchFamily="49" charset="0"/>
              </a:rPr>
              <a:t> Ugyanaz, mint a </a:t>
            </a:r>
            <a:r>
              <a:rPr lang="hu-HU" dirty="0" err="1">
                <a:cs typeface="Courier New" panose="02070309020205020404" pitchFamily="49" charset="0"/>
              </a:rPr>
              <a:t>Create</a:t>
            </a:r>
            <a:r>
              <a:rPr lang="hu-HU" dirty="0">
                <a:cs typeface="Courier New" panose="02070309020205020404" pitchFamily="49" charset="0"/>
              </a:rPr>
              <a:t>, de ha létezik, hibát jelez.</a:t>
            </a:r>
          </a:p>
          <a:p>
            <a:pPr lvl="1"/>
            <a:r>
              <a:rPr lang="hu-HU" dirty="0">
                <a:cs typeface="Courier New" panose="02070309020205020404" pitchFamily="49" charset="0"/>
              </a:rPr>
              <a:t>Open: Megnyitja az állományt, ha nem létezik, akkor hibát jelez.</a:t>
            </a:r>
          </a:p>
          <a:p>
            <a:pPr lvl="1"/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OpenOrCreate</a:t>
            </a:r>
            <a:r>
              <a:rPr lang="hu-HU" b="1" dirty="0">
                <a:cs typeface="Courier New" panose="02070309020205020404" pitchFamily="49" charset="0"/>
              </a:rPr>
              <a:t>:</a:t>
            </a:r>
            <a:r>
              <a:rPr lang="hu-HU" dirty="0">
                <a:cs typeface="Courier New" panose="02070309020205020404" pitchFamily="49" charset="0"/>
              </a:rPr>
              <a:t> Ugyanaz, mint az Open, de ha nem létezik, akkor létrehozza.</a:t>
            </a:r>
          </a:p>
          <a:p>
            <a:pPr lvl="1"/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hu-HU" b="1" dirty="0">
                <a:cs typeface="Courier New" panose="02070309020205020404" pitchFamily="49" charset="0"/>
              </a:rPr>
              <a:t>:</a:t>
            </a:r>
            <a:r>
              <a:rPr lang="hu-HU" dirty="0">
                <a:cs typeface="Courier New" panose="02070309020205020404" pitchFamily="49" charset="0"/>
              </a:rPr>
              <a:t> Megnyit vagy létrehoz egy fájlt, és az új adatokat a végére írja.</a:t>
            </a:r>
          </a:p>
          <a:p>
            <a:pPr lvl="1"/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Truncate</a:t>
            </a:r>
            <a:r>
              <a:rPr lang="hu-HU" b="1" dirty="0">
                <a:cs typeface="Courier New" panose="02070309020205020404" pitchFamily="49" charset="0"/>
              </a:rPr>
              <a:t>:</a:t>
            </a:r>
            <a:r>
              <a:rPr lang="hu-HU" dirty="0">
                <a:cs typeface="Courier New" panose="02070309020205020404" pitchFamily="49" charset="0"/>
              </a:rPr>
              <a:t> Megnyit egy fájlt, és törli a tartalmát.</a:t>
            </a:r>
          </a:p>
        </p:txBody>
      </p:sp>
    </p:spTree>
    <p:extLst>
      <p:ext uri="{BB962C8B-B14F-4D97-AF65-F5344CB8AC3E}">
        <p14:creationId xmlns:p14="http://schemas.microsoft.com/office/powerpoint/2010/main" val="96576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Állomány hozzáadása egy projekthez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766482"/>
            <a:ext cx="12057529" cy="5937623"/>
          </a:xfrm>
        </p:spPr>
        <p:txBody>
          <a:bodyPr>
            <a:normAutofit fontScale="92500"/>
          </a:bodyPr>
          <a:lstStyle/>
          <a:p>
            <a:r>
              <a:rPr lang="hu-HU" sz="4000" dirty="0"/>
              <a:t>Az állományt érdemes hozzáadni a Visual </a:t>
            </a:r>
            <a:r>
              <a:rPr lang="hu-HU" sz="4000" dirty="0" err="1"/>
              <a:t>Studio</a:t>
            </a:r>
            <a:r>
              <a:rPr lang="hu-HU" sz="4000" dirty="0"/>
              <a:t> projekthez:</a:t>
            </a:r>
          </a:p>
          <a:p>
            <a:pPr lvl="1"/>
            <a:r>
              <a:rPr lang="hu-HU" sz="3600" dirty="0">
                <a:cs typeface="Courier New" panose="02070309020205020404" pitchFamily="49" charset="0"/>
              </a:rPr>
              <a:t>Project menü, Add </a:t>
            </a:r>
            <a:r>
              <a:rPr lang="hu-HU" sz="3600" dirty="0" err="1">
                <a:cs typeface="Courier New" panose="02070309020205020404" pitchFamily="49" charset="0"/>
              </a:rPr>
              <a:t>Existing</a:t>
            </a:r>
            <a:r>
              <a:rPr lang="hu-HU" sz="3600" dirty="0">
                <a:cs typeface="Courier New" panose="02070309020205020404" pitchFamily="49" charset="0"/>
              </a:rPr>
              <a:t> </a:t>
            </a:r>
            <a:r>
              <a:rPr lang="hu-HU" sz="3600" dirty="0" err="1">
                <a:cs typeface="Courier New" panose="02070309020205020404" pitchFamily="49" charset="0"/>
              </a:rPr>
              <a:t>Item</a:t>
            </a:r>
            <a:r>
              <a:rPr lang="hu-HU" sz="3600" dirty="0">
                <a:cs typeface="Courier New" panose="02070309020205020404" pitchFamily="49" charset="0"/>
              </a:rPr>
              <a:t>, fájltípusnál </a:t>
            </a:r>
            <a:r>
              <a:rPr lang="hu-HU" sz="3600" dirty="0" err="1">
                <a:cs typeface="Courier New" panose="02070309020205020404" pitchFamily="49" charset="0"/>
              </a:rPr>
              <a:t>All</a:t>
            </a:r>
            <a:r>
              <a:rPr lang="hu-HU" sz="3600" dirty="0">
                <a:cs typeface="Courier New" panose="02070309020205020404" pitchFamily="49" charset="0"/>
              </a:rPr>
              <a:t> </a:t>
            </a:r>
            <a:r>
              <a:rPr lang="hu-HU" sz="3600" dirty="0" err="1">
                <a:cs typeface="Courier New" panose="02070309020205020404" pitchFamily="49" charset="0"/>
              </a:rPr>
              <a:t>Files</a:t>
            </a:r>
            <a:r>
              <a:rPr lang="hu-HU" sz="3600" dirty="0">
                <a:cs typeface="Courier New" panose="02070309020205020404" pitchFamily="49" charset="0"/>
              </a:rPr>
              <a:t> (*.*) kiválasztása.</a:t>
            </a:r>
          </a:p>
          <a:p>
            <a:pPr lvl="1"/>
            <a:r>
              <a:rPr lang="hu-HU" sz="3600" dirty="0">
                <a:cs typeface="Courier New" panose="02070309020205020404" pitchFamily="49" charset="0"/>
              </a:rPr>
              <a:t>Jobb gombbal a </a:t>
            </a:r>
            <a:r>
              <a:rPr lang="hu-HU" sz="3600" dirty="0" err="1">
                <a:cs typeface="Courier New" panose="02070309020205020404" pitchFamily="49" charset="0"/>
              </a:rPr>
              <a:t>Properties</a:t>
            </a:r>
            <a:r>
              <a:rPr lang="hu-HU" sz="3600" dirty="0">
                <a:cs typeface="Courier New" panose="02070309020205020404" pitchFamily="49" charset="0"/>
              </a:rPr>
              <a:t> ablakban a </a:t>
            </a:r>
            <a:r>
              <a:rPr lang="hu-HU" sz="3600" dirty="0" err="1">
                <a:cs typeface="Courier New" panose="02070309020205020404" pitchFamily="49" charset="0"/>
              </a:rPr>
              <a:t>Copy</a:t>
            </a:r>
            <a:r>
              <a:rPr lang="hu-HU" sz="3600" dirty="0">
                <a:cs typeface="Courier New" panose="02070309020205020404" pitchFamily="49" charset="0"/>
              </a:rPr>
              <a:t> </a:t>
            </a:r>
            <a:r>
              <a:rPr lang="hu-HU" sz="3600" dirty="0" err="1">
                <a:cs typeface="Courier New" panose="02070309020205020404" pitchFamily="49" charset="0"/>
              </a:rPr>
              <a:t>to</a:t>
            </a:r>
            <a:r>
              <a:rPr lang="hu-HU" sz="3600" dirty="0">
                <a:cs typeface="Courier New" panose="02070309020205020404" pitchFamily="49" charset="0"/>
              </a:rPr>
              <a:t> Output </a:t>
            </a:r>
            <a:r>
              <a:rPr lang="hu-HU" sz="3600" dirty="0" err="1">
                <a:cs typeface="Courier New" panose="02070309020205020404" pitchFamily="49" charset="0"/>
              </a:rPr>
              <a:t>Directory</a:t>
            </a:r>
            <a:r>
              <a:rPr lang="hu-HU" sz="3600" dirty="0">
                <a:cs typeface="Courier New" panose="02070309020205020404" pitchFamily="49" charset="0"/>
              </a:rPr>
              <a:t> tulajdonságot </a:t>
            </a:r>
            <a:r>
              <a:rPr lang="hu-HU" sz="3600" dirty="0" err="1">
                <a:cs typeface="Courier New" panose="02070309020205020404" pitchFamily="49" charset="0"/>
              </a:rPr>
              <a:t>Copy</a:t>
            </a:r>
            <a:r>
              <a:rPr lang="hu-HU" sz="3600" dirty="0">
                <a:cs typeface="Courier New" panose="02070309020205020404" pitchFamily="49" charset="0"/>
              </a:rPr>
              <a:t> </a:t>
            </a:r>
            <a:r>
              <a:rPr lang="hu-HU" sz="3600" dirty="0" err="1">
                <a:cs typeface="Courier New" panose="02070309020205020404" pitchFamily="49" charset="0"/>
              </a:rPr>
              <a:t>always-re</a:t>
            </a:r>
            <a:r>
              <a:rPr lang="hu-HU" sz="3600" dirty="0">
                <a:cs typeface="Courier New" panose="02070309020205020404" pitchFamily="49" charset="0"/>
              </a:rPr>
              <a:t> állítani.</a:t>
            </a:r>
          </a:p>
          <a:p>
            <a:pPr lvl="1"/>
            <a:r>
              <a:rPr lang="hu-HU" sz="3600" dirty="0">
                <a:cs typeface="Courier New" panose="02070309020205020404" pitchFamily="49" charset="0"/>
              </a:rPr>
              <a:t>Ha nincs bekapcsolva egy ablak, akkor a </a:t>
            </a:r>
            <a:r>
              <a:rPr lang="hu-HU" sz="3600" dirty="0" err="1">
                <a:cs typeface="Courier New" panose="02070309020205020404" pitchFamily="49" charset="0"/>
              </a:rPr>
              <a:t>View</a:t>
            </a:r>
            <a:r>
              <a:rPr lang="hu-HU" sz="3600" dirty="0">
                <a:cs typeface="Courier New" panose="02070309020205020404" pitchFamily="49" charset="0"/>
              </a:rPr>
              <a:t> menüben lehet bekapcsolni.</a:t>
            </a:r>
          </a:p>
          <a:p>
            <a:r>
              <a:rPr lang="hu-HU" sz="4000" dirty="0">
                <a:cs typeface="Courier New" panose="02070309020205020404" pitchFamily="49" charset="0"/>
              </a:rPr>
              <a:t>Ha írunk egy fájlt, akkor az a lefordított programkód mellett fog megjelenni, például a projekt könyvtárában a bin\</a:t>
            </a:r>
            <a:r>
              <a:rPr lang="hu-HU" sz="4000" dirty="0" err="1">
                <a:cs typeface="Courier New" panose="02070309020205020404" pitchFamily="49" charset="0"/>
              </a:rPr>
              <a:t>Debug</a:t>
            </a:r>
            <a:r>
              <a:rPr lang="hu-HU" sz="4000" dirty="0">
                <a:cs typeface="Courier New" panose="02070309020205020404" pitchFamily="49" charset="0"/>
              </a:rPr>
              <a:t> mappán belül.</a:t>
            </a:r>
          </a:p>
        </p:txBody>
      </p:sp>
    </p:spTree>
    <p:extLst>
      <p:ext uri="{BB962C8B-B14F-4D97-AF65-F5344CB8AC3E}">
        <p14:creationId xmlns:p14="http://schemas.microsoft.com/office/powerpoint/2010/main" val="309807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470647"/>
          </a:xfrm>
        </p:spPr>
        <p:txBody>
          <a:bodyPr>
            <a:normAutofit fontScale="90000"/>
          </a:bodyPr>
          <a:lstStyle/>
          <a:p>
            <a:r>
              <a:rPr lang="hu-HU" dirty="0"/>
              <a:t>Állomány megnyitása, olvasása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1048871"/>
            <a:ext cx="12057529" cy="5655234"/>
          </a:xfrm>
        </p:spPr>
        <p:txBody>
          <a:bodyPr>
            <a:noAutofit/>
          </a:bodyPr>
          <a:lstStyle/>
          <a:p>
            <a:r>
              <a:rPr lang="hu-HU" sz="2800" dirty="0"/>
              <a:t>A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FileStream</a:t>
            </a:r>
            <a:r>
              <a:rPr lang="hu-HU" sz="2800" dirty="0" err="1"/>
              <a:t>-nél</a:t>
            </a:r>
            <a:r>
              <a:rPr lang="hu-HU" sz="2800" dirty="0"/>
              <a:t> meg lehet adni már rögtön, hogy mit akarunk csinálni a </a:t>
            </a:r>
            <a:r>
              <a:rPr lang="hu-HU" sz="2800" dirty="0" err="1"/>
              <a:t>fájl-al</a:t>
            </a:r>
            <a:r>
              <a:rPr lang="hu-HU" sz="2800" dirty="0"/>
              <a:t>, egy harmadik paraméterben:</a:t>
            </a:r>
          </a:p>
          <a:p>
            <a:pPr marL="0" indent="0">
              <a:buNone/>
            </a:pPr>
            <a:r>
              <a:rPr lang="hu-HU" sz="2800" dirty="0">
                <a:cs typeface="Courier New" panose="02070309020205020404" pitchFamily="49" charset="0"/>
              </a:rPr>
              <a:t>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FileAccess.mód</a:t>
            </a:r>
            <a:r>
              <a:rPr lang="hu-HU" sz="2800" dirty="0">
                <a:cs typeface="Courier New" panose="02070309020205020404" pitchFamily="49" charset="0"/>
              </a:rPr>
              <a:t>, ahol a mód:</a:t>
            </a:r>
          </a:p>
          <a:p>
            <a:pPr marL="457200" lvl="1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hu-HU" sz="2800" dirty="0">
                <a:cs typeface="Courier New" panose="02070309020205020404" pitchFamily="49" charset="0"/>
              </a:rPr>
              <a:t> (olvasás),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hu-HU" sz="2800" dirty="0">
                <a:cs typeface="Courier New" panose="02070309020205020404" pitchFamily="49" charset="0"/>
              </a:rPr>
              <a:t>(írás),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ReadWrite</a:t>
            </a:r>
            <a:r>
              <a:rPr lang="hu-HU" sz="2800" dirty="0">
                <a:cs typeface="Courier New" panose="02070309020205020404" pitchFamily="49" charset="0"/>
              </a:rPr>
              <a:t> (mindkettő)</a:t>
            </a:r>
          </a:p>
          <a:p>
            <a:pPr marL="363538" lvl="1"/>
            <a:r>
              <a:rPr lang="hu-HU" sz="2800" dirty="0">
                <a:cs typeface="Courier New" panose="02070309020205020404" pitchFamily="49" charset="0"/>
              </a:rPr>
              <a:t>Fájl olvasó: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StreamReader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StreamReader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(f);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Állomány végigolvasása, és az adatok képernyőre írása:</a:t>
            </a:r>
          </a:p>
          <a:p>
            <a:pPr marL="457200" lvl="1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… //(a deklarációkat lásd visszább)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 = ””;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(s != null) //VAGY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sr.EndOfStream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sr.ReadLine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4289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Állomány írása, lezárása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766482"/>
            <a:ext cx="12057529" cy="5937623"/>
          </a:xfrm>
        </p:spPr>
        <p:txBody>
          <a:bodyPr>
            <a:normAutofit fontScale="92500"/>
          </a:bodyPr>
          <a:lstStyle/>
          <a:p>
            <a:r>
              <a:rPr lang="hu-HU" sz="4000" dirty="0"/>
              <a:t>Írásnál a különbség, hogy itt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StreamWriter</a:t>
            </a:r>
            <a:r>
              <a:rPr lang="hu-HU" sz="4000" dirty="0" err="1"/>
              <a:t>-t</a:t>
            </a:r>
            <a:r>
              <a:rPr lang="hu-HU" sz="4000" dirty="0"/>
              <a:t> kell deklarálni, nem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StreamReader</a:t>
            </a:r>
            <a:r>
              <a:rPr lang="hu-HU" sz="4000" dirty="0" err="1"/>
              <a:t>-t</a:t>
            </a:r>
            <a:r>
              <a:rPr lang="hu-HU" sz="4000" dirty="0"/>
              <a:t>. Pl.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StreamWriter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StreamWriter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hu-HU" sz="4000" dirty="0">
                <a:cs typeface="Courier New" panose="02070309020205020404" pitchFamily="49" charset="0"/>
              </a:rPr>
              <a:t>Írás: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sw.Write</a:t>
            </a:r>
            <a:r>
              <a:rPr lang="hu-HU" sz="4000" dirty="0">
                <a:cs typeface="Courier New" panose="02070309020205020404" pitchFamily="49" charset="0"/>
              </a:rPr>
              <a:t> vagy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sw.WriteLine</a:t>
            </a:r>
            <a:r>
              <a:rPr lang="hu-HU" sz="4000" dirty="0">
                <a:cs typeface="Courier New" panose="02070309020205020404" pitchFamily="49" charset="0"/>
              </a:rPr>
              <a:t> ugyanúgy, mint a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hu-HU" sz="4000" dirty="0">
                <a:cs typeface="Courier New" panose="02070309020205020404" pitchFamily="49" charset="0"/>
              </a:rPr>
              <a:t> esetén.</a:t>
            </a:r>
          </a:p>
          <a:p>
            <a:r>
              <a:rPr lang="hu-HU" sz="4000" dirty="0">
                <a:cs typeface="Courier New" panose="02070309020205020404" pitchFamily="49" charset="0"/>
              </a:rPr>
              <a:t>Lezárás: először az olvasót, vagy írót, majd az állományt. Pl.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sw.Close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hu-HU" sz="4000" dirty="0">
                <a:cs typeface="Courier New" panose="02070309020205020404" pitchFamily="49" charset="0"/>
              </a:rPr>
              <a:t>vagy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sr.Close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hu-HU" sz="4000" dirty="0">
                <a:cs typeface="Courier New" panose="02070309020205020404" pitchFamily="49" charset="0"/>
              </a:rPr>
              <a:t>, majd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fs.Close</a:t>
            </a:r>
            <a:r>
              <a:rPr lang="hu-HU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hu-HU" sz="4000" dirty="0">
                <a:cs typeface="Courier New" panose="02070309020205020404" pitchFamily="49" charset="0"/>
              </a:rPr>
              <a:t>. </a:t>
            </a:r>
            <a:endParaRPr lang="hu-HU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4000" dirty="0">
                <a:cs typeface="Courier New" panose="02070309020205020404" pitchFamily="49" charset="0"/>
              </a:rPr>
              <a:t>A sorrendre figyeljünk, mert egyébként hibát fog jelezni a program.</a:t>
            </a:r>
            <a:endParaRPr lang="hu-HU" sz="96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73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24764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Megjegyzések az állománykezeléssel kapcsolatban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766482"/>
            <a:ext cx="12057529" cy="5937623"/>
          </a:xfrm>
        </p:spPr>
        <p:txBody>
          <a:bodyPr>
            <a:noAutofit/>
          </a:bodyPr>
          <a:lstStyle/>
          <a:p>
            <a:r>
              <a:rPr lang="hu-HU" dirty="0"/>
              <a:t>Ha elérési utat adunk meg, akkor vagy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\\</a:t>
            </a:r>
            <a:r>
              <a:rPr lang="hu-HU" dirty="0"/>
              <a:t> jelet kell használni, vagy az ” elé egy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hu-HU" dirty="0"/>
              <a:t> jelet kell írni.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Kódolás beállítása: 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StreamReader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StreamReader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Encoding.GetEncoding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("iso-8859-2"), 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hu-HU" dirty="0">
                <a:cs typeface="Courier New" panose="02070309020205020404" pitchFamily="49" charset="0"/>
              </a:rPr>
              <a:t>Ha tudjuk a pontos kódolást, akkor pl. ha UTF8-as kódolás van: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Encoding.UTF8</a:t>
            </a:r>
          </a:p>
          <a:p>
            <a:r>
              <a:rPr lang="hu-HU" dirty="0">
                <a:cs typeface="Courier New" panose="02070309020205020404" pitchFamily="49" charset="0"/>
              </a:rPr>
              <a:t>Akkor kell beállítani, ha az ékezetes karakterek nem jelennek meg jól.</a:t>
            </a:r>
          </a:p>
        </p:txBody>
      </p:sp>
    </p:spTree>
    <p:extLst>
      <p:ext uri="{BB962C8B-B14F-4D97-AF65-F5344CB8AC3E}">
        <p14:creationId xmlns:p14="http://schemas.microsoft.com/office/powerpoint/2010/main" val="4225849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857</TotalTime>
  <Words>477</Words>
  <Application>Microsoft Office PowerPoint</Application>
  <PresentationFormat>Szélesvásznú</PresentationFormat>
  <Paragraphs>35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 New</vt:lpstr>
      <vt:lpstr>Égi</vt:lpstr>
      <vt:lpstr>Állománykezelés</vt:lpstr>
      <vt:lpstr>Állomány hozzáadása egy projekthez</vt:lpstr>
      <vt:lpstr>Állomány megnyitása, olvasása</vt:lpstr>
      <vt:lpstr>Állomány írása, lezárása</vt:lpstr>
      <vt:lpstr>Megjegyzések az állománykezeléssel kapcsolatban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Miklós Péter</cp:lastModifiedBy>
  <cp:revision>262</cp:revision>
  <dcterms:created xsi:type="dcterms:W3CDTF">2014-11-05T16:55:57Z</dcterms:created>
  <dcterms:modified xsi:type="dcterms:W3CDTF">2020-04-07T15:14:24Z</dcterms:modified>
</cp:coreProperties>
</file>