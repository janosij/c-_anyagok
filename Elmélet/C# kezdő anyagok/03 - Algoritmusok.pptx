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0" r:id="rId1"/>
  </p:sldMasterIdLst>
  <p:handoutMasterIdLst>
    <p:handoutMasterId r:id="rId9"/>
  </p:handoutMasterIdLst>
  <p:sldIdLst>
    <p:sldId id="272" r:id="rId2"/>
    <p:sldId id="290" r:id="rId3"/>
    <p:sldId id="273" r:id="rId4"/>
    <p:sldId id="276" r:id="rId5"/>
    <p:sldId id="277" r:id="rId6"/>
    <p:sldId id="291" r:id="rId7"/>
    <p:sldId id="27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21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2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2126"/>
    </p:cViewPr>
  </p:sorterViewPr>
  <p:notesViewPr>
    <p:cSldViewPr snapToGrid="0">
      <p:cViewPr varScale="1">
        <p:scale>
          <a:sx n="57" d="100"/>
          <a:sy n="57" d="100"/>
        </p:scale>
        <p:origin x="283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B60BE-C4F1-405D-B022-EC73AF30A1CB}" type="datetimeFigureOut">
              <a:rPr lang="hu-HU" smtClean="0"/>
              <a:pPr/>
              <a:t>2016. 01. 01.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AC1FD9-8148-4354-8614-90D9F03A1422}" type="slidenum">
              <a:rPr lang="hu-HU" smtClean="0"/>
              <a:pPr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215446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 smtClean="0"/>
              <a:t>Alcím mintájának szerkesztése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1639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254000"/>
            <a:ext cx="10131425" cy="1456267"/>
          </a:xfrm>
        </p:spPr>
        <p:txBody>
          <a:bodyPr/>
          <a:lstStyle/>
          <a:p>
            <a:r>
              <a:rPr lang="hu-HU" dirty="0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1710267"/>
            <a:ext cx="10131425" cy="5020733"/>
          </a:xfrm>
        </p:spPr>
        <p:txBody>
          <a:bodyPr anchor="ctr"/>
          <a:lstStyle/>
          <a:p>
            <a:pPr lvl="0"/>
            <a:r>
              <a:rPr lang="hu-HU" dirty="0" smtClean="0"/>
              <a:t>Mintaszöveg szerkesztése</a:t>
            </a:r>
          </a:p>
          <a:p>
            <a:pPr lvl="1"/>
            <a:r>
              <a:rPr lang="hu-HU" dirty="0" smtClean="0"/>
              <a:t>Második szint</a:t>
            </a:r>
          </a:p>
          <a:p>
            <a:pPr lvl="2"/>
            <a:r>
              <a:rPr lang="hu-HU" dirty="0" smtClean="0"/>
              <a:t>Harmadik szint</a:t>
            </a:r>
          </a:p>
          <a:p>
            <a:pPr lvl="3"/>
            <a:r>
              <a:rPr lang="hu-HU" dirty="0" smtClean="0"/>
              <a:t>Negyedik szint</a:t>
            </a:r>
          </a:p>
          <a:p>
            <a:pPr lvl="4"/>
            <a:r>
              <a:rPr lang="hu-HU" dirty="0" smtClean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5856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00477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32301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9796027F-7875-4030-9381-8BD8C4F21935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22557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5912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869777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59247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86907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 smtClean="0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01095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24038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22093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26247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964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 smtClean="0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AAD347D-5ACD-4C99-B74B-A9C85AD731AF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22751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949793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/>
          <a:lstStyle/>
          <a:p>
            <a:fld id="{4509A250-FF31-4206-8172-F9D3106AACB1}" type="datetimeFigureOut">
              <a:rPr lang="en-US" smtClean="0"/>
              <a:pPr/>
              <a:t>1/1/2016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/>
          <a:lstStyle/>
          <a:p>
            <a:fld id="{D57F1E4F-1CFF-5643-939E-02111984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5687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1270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dirty="0" smtClean="0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1583267"/>
            <a:ext cx="10131425" cy="51350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 dirty="0" smtClean="0"/>
              <a:t>Mintaszöveg szerkesztése</a:t>
            </a:r>
          </a:p>
          <a:p>
            <a:pPr lvl="1"/>
            <a:r>
              <a:rPr lang="hu-HU" dirty="0" smtClean="0"/>
              <a:t>Második szint</a:t>
            </a:r>
          </a:p>
          <a:p>
            <a:pPr lvl="2"/>
            <a:r>
              <a:rPr lang="hu-HU" dirty="0" smtClean="0"/>
              <a:t>Harmadik szint</a:t>
            </a:r>
          </a:p>
          <a:p>
            <a:pPr lvl="3"/>
            <a:r>
              <a:rPr lang="hu-HU" dirty="0" smtClean="0"/>
              <a:t>Negyedik szint</a:t>
            </a:r>
          </a:p>
          <a:p>
            <a:pPr lvl="4"/>
            <a:r>
              <a:rPr lang="hu-HU" dirty="0" smtClean="0"/>
              <a:t>Ötödik szint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019155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1" r:id="rId1"/>
    <p:sldLayoutId id="2147483762" r:id="rId2"/>
    <p:sldLayoutId id="2147483763" r:id="rId3"/>
    <p:sldLayoutId id="2147483764" r:id="rId4"/>
    <p:sldLayoutId id="2147483765" r:id="rId5"/>
    <p:sldLayoutId id="2147483766" r:id="rId6"/>
    <p:sldLayoutId id="2147483767" r:id="rId7"/>
    <p:sldLayoutId id="2147483768" r:id="rId8"/>
    <p:sldLayoutId id="2147483769" r:id="rId9"/>
    <p:sldLayoutId id="2147483770" r:id="rId10"/>
    <p:sldLayoutId id="2147483771" r:id="rId11"/>
    <p:sldLayoutId id="2147483772" r:id="rId12"/>
    <p:sldLayoutId id="2147483773" r:id="rId13"/>
    <p:sldLayoutId id="2147483774" r:id="rId14"/>
    <p:sldLayoutId id="2147483775" r:id="rId15"/>
    <p:sldLayoutId id="2147483776" r:id="rId16"/>
    <p:sldLayoutId id="2147483777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 bldLvl="2">
        <p:tmplLst>
          <p:tmpl lvl="1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2">
            <p:tnLst>
              <p:par>
                <p:cTn presetID="10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3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4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5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4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3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Algoritmus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Egy olyan eljárás, amely valamilyen probléma megoldására irányul.</a:t>
            </a:r>
          </a:p>
          <a:p>
            <a:r>
              <a:rPr lang="hu-HU" dirty="0" smtClean="0"/>
              <a:t>Véges számú lépésben véget kell érnie.</a:t>
            </a:r>
          </a:p>
          <a:p>
            <a:r>
              <a:rPr lang="hu-HU" dirty="0" smtClean="0"/>
              <a:t>Legyen hatékony, és tömör, és lényegre törő.</a:t>
            </a:r>
          </a:p>
          <a:p>
            <a:r>
              <a:rPr lang="hu-HU" dirty="0" smtClean="0"/>
              <a:t>Eszközök algoritmus leírására: saját szavakkal, mondatszerű leírás (</a:t>
            </a:r>
            <a:r>
              <a:rPr lang="hu-HU" dirty="0" err="1" smtClean="0"/>
              <a:t>pszeudo-kód</a:t>
            </a:r>
            <a:r>
              <a:rPr lang="hu-HU" dirty="0" smtClean="0"/>
              <a:t>), folyamatábra, </a:t>
            </a:r>
            <a:r>
              <a:rPr lang="hu-HU" dirty="0" err="1" smtClean="0"/>
              <a:t>stuktogramm</a:t>
            </a:r>
            <a:r>
              <a:rPr lang="hu-HU" dirty="0" smtClean="0"/>
              <a:t>, Jackson-ábra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6578225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Algoritmus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smtClean="0"/>
              <a:t>Értékadó utasítás:</a:t>
            </a:r>
          </a:p>
          <a:p>
            <a:pPr lvl="1"/>
            <a:r>
              <a:rPr lang="hu-HU" dirty="0" smtClean="0"/>
              <a:t>Mondatszerű leírás: név=érték (vagy név:=érték)</a:t>
            </a:r>
          </a:p>
          <a:p>
            <a:pPr lvl="1"/>
            <a:r>
              <a:rPr lang="hu-HU" dirty="0" smtClean="0"/>
              <a:t>Folyamatábrában: </a:t>
            </a:r>
          </a:p>
          <a:p>
            <a:r>
              <a:rPr lang="hu-HU" dirty="0" smtClean="0"/>
              <a:t>Beolvasó utasítás:</a:t>
            </a:r>
          </a:p>
          <a:p>
            <a:pPr lvl="1"/>
            <a:r>
              <a:rPr lang="hu-HU" dirty="0" smtClean="0"/>
              <a:t>Mondatszerű leírásban: Be: név, Ki: név</a:t>
            </a:r>
          </a:p>
          <a:p>
            <a:pPr lvl="1"/>
            <a:r>
              <a:rPr lang="hu-HU" dirty="0" smtClean="0"/>
              <a:t>Folyamatábrában: </a:t>
            </a:r>
            <a:endParaRPr lang="hu-HU" dirty="0"/>
          </a:p>
        </p:txBody>
      </p:sp>
      <p:sp>
        <p:nvSpPr>
          <p:cNvPr id="4" name="Téglalap 3"/>
          <p:cNvSpPr/>
          <p:nvPr/>
        </p:nvSpPr>
        <p:spPr>
          <a:xfrm>
            <a:off x="4693422" y="3711182"/>
            <a:ext cx="2116182" cy="50945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3200" dirty="0" smtClean="0"/>
              <a:t>Név=érték</a:t>
            </a:r>
            <a:endParaRPr lang="hu-HU" sz="2800" dirty="0"/>
          </a:p>
        </p:txBody>
      </p:sp>
      <p:sp>
        <p:nvSpPr>
          <p:cNvPr id="5" name="Romboid 4"/>
          <p:cNvSpPr/>
          <p:nvPr/>
        </p:nvSpPr>
        <p:spPr>
          <a:xfrm>
            <a:off x="4833257" y="5460274"/>
            <a:ext cx="2259874" cy="770709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3200" dirty="0" smtClean="0"/>
              <a:t>Be: név</a:t>
            </a:r>
            <a:endParaRPr lang="hu-HU" sz="3200" dirty="0"/>
          </a:p>
        </p:txBody>
      </p:sp>
      <p:sp>
        <p:nvSpPr>
          <p:cNvPr id="6" name="Romboid 5"/>
          <p:cNvSpPr/>
          <p:nvPr/>
        </p:nvSpPr>
        <p:spPr>
          <a:xfrm>
            <a:off x="7184572" y="5460273"/>
            <a:ext cx="2259874" cy="770709"/>
          </a:xfrm>
          <a:prstGeom prst="parallelogram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sz="3200" dirty="0" smtClean="0"/>
              <a:t>Ki: név</a:t>
            </a:r>
            <a:endParaRPr lang="hu-HU" sz="3200" dirty="0"/>
          </a:p>
        </p:txBody>
      </p:sp>
    </p:spTree>
    <p:extLst>
      <p:ext uri="{BB962C8B-B14F-4D97-AF65-F5344CB8AC3E}">
        <p14:creationId xmlns:p14="http://schemas.microsoft.com/office/powerpoint/2010/main" val="127104950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Példa egyszerű programra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 smtClean="0"/>
              <a:t>Írjunk algoritmust, amely beolvas két változót, majd összeadja az értéküket, és kiírja!</a:t>
            </a:r>
          </a:p>
          <a:p>
            <a:endParaRPr lang="hu-HU" dirty="0"/>
          </a:p>
          <a:p>
            <a:pPr marL="0" indent="0">
              <a:buNone/>
            </a:pPr>
            <a:r>
              <a:rPr lang="hu-H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Algoritmus összeadás</a:t>
            </a:r>
          </a:p>
          <a:p>
            <a:pPr marL="0" indent="0">
              <a:buNone/>
            </a:pPr>
            <a:r>
              <a:rPr lang="hu-H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Változók: x,y,z</a:t>
            </a:r>
          </a:p>
          <a:p>
            <a:pPr marL="0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Be: x,y</a:t>
            </a:r>
          </a:p>
          <a:p>
            <a:pPr marL="0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z=x+y</a:t>
            </a:r>
          </a:p>
          <a:p>
            <a:pPr marL="0" indent="0">
              <a:buNone/>
            </a:pPr>
            <a:r>
              <a:rPr lang="hu-HU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hu-H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Ki: z</a:t>
            </a:r>
          </a:p>
          <a:p>
            <a:pPr marL="0" indent="0">
              <a:buNone/>
            </a:pPr>
            <a:r>
              <a:rPr lang="hu-HU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Algoritmus vége</a:t>
            </a:r>
            <a:endParaRPr lang="hu-HU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Folyamatábra: Bekötés 7"/>
          <p:cNvSpPr/>
          <p:nvPr/>
        </p:nvSpPr>
        <p:spPr>
          <a:xfrm>
            <a:off x="10225089" y="254000"/>
            <a:ext cx="1565274" cy="521547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START</a:t>
            </a:r>
            <a:endParaRPr lang="hu-HU" dirty="0"/>
          </a:p>
        </p:txBody>
      </p:sp>
      <p:sp>
        <p:nvSpPr>
          <p:cNvPr id="9" name="Lefelé nyíl 8"/>
          <p:cNvSpPr/>
          <p:nvPr/>
        </p:nvSpPr>
        <p:spPr>
          <a:xfrm>
            <a:off x="10817226" y="787823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0" name="Folyamatábra: Adatok 9"/>
          <p:cNvSpPr/>
          <p:nvPr/>
        </p:nvSpPr>
        <p:spPr>
          <a:xfrm>
            <a:off x="9661209" y="1395306"/>
            <a:ext cx="2423160" cy="52154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Be: x,y</a:t>
            </a:r>
            <a:endParaRPr lang="hu-HU" dirty="0"/>
          </a:p>
        </p:txBody>
      </p:sp>
      <p:sp>
        <p:nvSpPr>
          <p:cNvPr id="11" name="Lefelé nyíl 10"/>
          <p:cNvSpPr/>
          <p:nvPr/>
        </p:nvSpPr>
        <p:spPr>
          <a:xfrm>
            <a:off x="10714992" y="3173518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2" name="Folyamatábra: Feldolgozás 11"/>
          <p:cNvSpPr/>
          <p:nvPr/>
        </p:nvSpPr>
        <p:spPr>
          <a:xfrm>
            <a:off x="9551355" y="2524336"/>
            <a:ext cx="2411094" cy="61383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Z=x+y</a:t>
            </a:r>
            <a:endParaRPr lang="hu-HU" dirty="0"/>
          </a:p>
        </p:txBody>
      </p:sp>
      <p:sp>
        <p:nvSpPr>
          <p:cNvPr id="13" name="Folyamatábra: Adatok 12"/>
          <p:cNvSpPr/>
          <p:nvPr/>
        </p:nvSpPr>
        <p:spPr>
          <a:xfrm>
            <a:off x="9244332" y="3745654"/>
            <a:ext cx="2718117" cy="581130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Ki:z</a:t>
            </a:r>
            <a:endParaRPr lang="hu-HU" dirty="0"/>
          </a:p>
        </p:txBody>
      </p:sp>
      <p:sp>
        <p:nvSpPr>
          <p:cNvPr id="16" name="Lefelé nyíl 15"/>
          <p:cNvSpPr/>
          <p:nvPr/>
        </p:nvSpPr>
        <p:spPr>
          <a:xfrm>
            <a:off x="10714992" y="1945216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7" name="Folyamatábra: Bekötés 16"/>
          <p:cNvSpPr/>
          <p:nvPr/>
        </p:nvSpPr>
        <p:spPr>
          <a:xfrm>
            <a:off x="9820753" y="4898920"/>
            <a:ext cx="1565274" cy="521547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STOP</a:t>
            </a:r>
            <a:endParaRPr lang="hu-HU" dirty="0"/>
          </a:p>
        </p:txBody>
      </p:sp>
      <p:sp>
        <p:nvSpPr>
          <p:cNvPr id="18" name="Lefelé nyíl 17"/>
          <p:cNvSpPr/>
          <p:nvPr/>
        </p:nvSpPr>
        <p:spPr>
          <a:xfrm>
            <a:off x="10436226" y="4344987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7447775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>
            <a:normAutofit/>
          </a:bodyPr>
          <a:lstStyle/>
          <a:p>
            <a:r>
              <a:rPr lang="hu-HU" dirty="0" smtClean="0"/>
              <a:t>Feladat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3032" y="1068947"/>
            <a:ext cx="8282463" cy="5499278"/>
          </a:xfrm>
        </p:spPr>
        <p:txBody>
          <a:bodyPr>
            <a:normAutofit/>
          </a:bodyPr>
          <a:lstStyle/>
          <a:p>
            <a:r>
              <a:rPr lang="hu-HU" sz="3200" b="1" dirty="0" smtClean="0"/>
              <a:t>Írjunk algoritmust, amely beolvassa egy adott téglalap oldalainak hosszát, majd kiszámítja a téglalap kerületét és területét!</a:t>
            </a:r>
          </a:p>
          <a:p>
            <a:pPr marL="0" indent="0">
              <a:buNone/>
            </a:pP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Algoritmus téglalap</a:t>
            </a:r>
          </a:p>
          <a:p>
            <a:pPr marL="0" indent="0">
              <a:buNone/>
            </a:pP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Be: a,b</a:t>
            </a:r>
          </a:p>
          <a:p>
            <a:pPr marL="0" indent="0">
              <a:buNone/>
            </a:pP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K=2*(a+b)</a:t>
            </a:r>
          </a:p>
          <a:p>
            <a:pPr marL="0" indent="0">
              <a:buNone/>
            </a:pP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T=a*b</a:t>
            </a:r>
          </a:p>
          <a:p>
            <a:pPr marL="0" indent="0">
              <a:buNone/>
            </a:pP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Ki:K,T</a:t>
            </a:r>
          </a:p>
          <a:p>
            <a:pPr marL="0" indent="0">
              <a:buNone/>
            </a:pPr>
            <a:r>
              <a:rPr lang="hu-HU" sz="3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Algoritmus vége</a:t>
            </a:r>
          </a:p>
        </p:txBody>
      </p:sp>
      <p:sp>
        <p:nvSpPr>
          <p:cNvPr id="4" name="Folyamatábra: Bekötés 3"/>
          <p:cNvSpPr/>
          <p:nvPr/>
        </p:nvSpPr>
        <p:spPr>
          <a:xfrm>
            <a:off x="9540715" y="254001"/>
            <a:ext cx="1565274" cy="521547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START</a:t>
            </a:r>
            <a:endParaRPr lang="hu-HU" dirty="0"/>
          </a:p>
        </p:txBody>
      </p:sp>
      <p:sp>
        <p:nvSpPr>
          <p:cNvPr id="5" name="Lefelé nyíl 4"/>
          <p:cNvSpPr/>
          <p:nvPr/>
        </p:nvSpPr>
        <p:spPr>
          <a:xfrm>
            <a:off x="10132852" y="787824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Folyamatábra: Adatok 5"/>
          <p:cNvSpPr/>
          <p:nvPr/>
        </p:nvSpPr>
        <p:spPr>
          <a:xfrm>
            <a:off x="8976835" y="1395307"/>
            <a:ext cx="2423160" cy="52154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Be: a,b</a:t>
            </a:r>
            <a:endParaRPr lang="hu-HU" dirty="0"/>
          </a:p>
        </p:txBody>
      </p:sp>
      <p:sp>
        <p:nvSpPr>
          <p:cNvPr id="7" name="Lefelé nyíl 6"/>
          <p:cNvSpPr/>
          <p:nvPr/>
        </p:nvSpPr>
        <p:spPr>
          <a:xfrm>
            <a:off x="10030618" y="3173519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Folyamatábra: Feldolgozás 7"/>
          <p:cNvSpPr/>
          <p:nvPr/>
        </p:nvSpPr>
        <p:spPr>
          <a:xfrm>
            <a:off x="8866981" y="2524337"/>
            <a:ext cx="2411094" cy="61383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K=2*(a+b)</a:t>
            </a:r>
            <a:endParaRPr lang="hu-HU" dirty="0"/>
          </a:p>
        </p:txBody>
      </p:sp>
      <p:sp>
        <p:nvSpPr>
          <p:cNvPr id="9" name="Folyamatábra: Adatok 8"/>
          <p:cNvSpPr/>
          <p:nvPr/>
        </p:nvSpPr>
        <p:spPr>
          <a:xfrm>
            <a:off x="8559958" y="5002899"/>
            <a:ext cx="2718117" cy="581130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Ki: K, T</a:t>
            </a:r>
            <a:endParaRPr lang="hu-HU" dirty="0"/>
          </a:p>
        </p:txBody>
      </p:sp>
      <p:sp>
        <p:nvSpPr>
          <p:cNvPr id="10" name="Lefelé nyíl 9"/>
          <p:cNvSpPr/>
          <p:nvPr/>
        </p:nvSpPr>
        <p:spPr>
          <a:xfrm>
            <a:off x="10030618" y="1945217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Folyamatábra: Bekötés 10"/>
          <p:cNvSpPr/>
          <p:nvPr/>
        </p:nvSpPr>
        <p:spPr>
          <a:xfrm>
            <a:off x="9206071" y="6124997"/>
            <a:ext cx="1565274" cy="521547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STOP</a:t>
            </a:r>
            <a:endParaRPr lang="hu-HU" dirty="0"/>
          </a:p>
        </p:txBody>
      </p:sp>
      <p:sp>
        <p:nvSpPr>
          <p:cNvPr id="12" name="Lefelé nyíl 11"/>
          <p:cNvSpPr/>
          <p:nvPr/>
        </p:nvSpPr>
        <p:spPr>
          <a:xfrm>
            <a:off x="9845299" y="5545877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Lefelé nyíl 12"/>
          <p:cNvSpPr/>
          <p:nvPr/>
        </p:nvSpPr>
        <p:spPr>
          <a:xfrm>
            <a:off x="9988708" y="4421228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4" name="Folyamatábra: Feldolgozás 13"/>
          <p:cNvSpPr/>
          <p:nvPr/>
        </p:nvSpPr>
        <p:spPr>
          <a:xfrm>
            <a:off x="8825071" y="3772046"/>
            <a:ext cx="2411094" cy="61383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T=a*b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175880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>
            <a:normAutofit/>
          </a:bodyPr>
          <a:lstStyle/>
          <a:p>
            <a:r>
              <a:rPr lang="hu-HU" dirty="0" smtClean="0"/>
              <a:t>Feladat</a:t>
            </a: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103032" y="1068947"/>
                <a:ext cx="12088968" cy="5499278"/>
              </a:xfrm>
            </p:spPr>
            <p:txBody>
              <a:bodyPr>
                <a:normAutofit/>
              </a:bodyPr>
              <a:lstStyle/>
              <a:p>
                <a:r>
                  <a:rPr lang="hu-HU" sz="3200" b="1" dirty="0" err="1" smtClean="0"/>
                  <a:t>Hf</a:t>
                </a:r>
                <a:r>
                  <a:rPr lang="hu-HU" sz="3200" b="1" dirty="0" smtClean="0"/>
                  <a:t>: Írjunk algoritmust, amely beolvassa egy adott háromszög oldalait, majd kiszámítja és kiírja a háromszög kerületét és területét.</a:t>
                </a:r>
              </a:p>
              <a:p>
                <a:r>
                  <a:rPr lang="hu-HU" sz="3200" b="1" dirty="0" smtClean="0"/>
                  <a:t>Segítség: A háromszög területe:</a:t>
                </a:r>
              </a:p>
              <a:p>
                <a:r>
                  <a:rPr lang="hu-HU" sz="3200" b="1" dirty="0" smtClean="0"/>
                  <a:t>T=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hu-HU" sz="32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hu-HU" sz="3200" b="1" i="1" smtClean="0">
                            <a:latin typeface="Cambria Math" panose="02040503050406030204" pitchFamily="18" charset="0"/>
                          </a:rPr>
                          <m:t>𝒔</m:t>
                        </m:r>
                        <m:r>
                          <a:rPr lang="hu-HU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ctrlPr>
                              <a:rPr lang="hu-HU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3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hu-HU" sz="3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hu-HU" sz="3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𝒂</m:t>
                            </m:r>
                          </m:e>
                        </m:d>
                        <m:r>
                          <a:rPr lang="hu-HU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ctrlPr>
                              <a:rPr lang="hu-HU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3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hu-HU" sz="3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hu-HU" sz="3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𝒃</m:t>
                            </m:r>
                          </m:e>
                        </m:d>
                        <m:r>
                          <a:rPr lang="hu-HU" sz="3200" b="1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d>
                          <m:dPr>
                            <m:ctrlPr>
                              <a:rPr lang="hu-HU" sz="3200" b="1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hu-HU" sz="3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𝒔</m:t>
                            </m:r>
                            <m:r>
                              <a:rPr lang="hu-HU" sz="3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hu-HU" sz="3200" b="1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𝒄</m:t>
                            </m:r>
                          </m:e>
                        </m:d>
                      </m:e>
                    </m:rad>
                  </m:oMath>
                </a14:m>
                <a:r>
                  <a:rPr lang="hu-HU" sz="2800" b="1" dirty="0" smtClean="0"/>
                  <a:t>, ahol s a kerület fele.</a:t>
                </a: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032" y="1068947"/>
                <a:ext cx="12088968" cy="5499278"/>
              </a:xfrm>
              <a:blipFill rotWithShape="0">
                <a:blip r:embed="rId2"/>
                <a:stretch>
                  <a:fillRect l="-1160" r="-202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12109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>
            <a:normAutofit/>
          </a:bodyPr>
          <a:lstStyle/>
          <a:p>
            <a:r>
              <a:rPr lang="hu-HU" dirty="0" smtClean="0"/>
              <a:t>Feladat</a:t>
            </a:r>
            <a:endParaRPr lang="hu-H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artalom helye 2"/>
              <p:cNvSpPr>
                <a:spLocks noGrp="1"/>
              </p:cNvSpPr>
              <p:nvPr>
                <p:ph idx="1"/>
              </p:nvPr>
            </p:nvSpPr>
            <p:spPr>
              <a:xfrm>
                <a:off x="103032" y="1068947"/>
                <a:ext cx="12088968" cy="549927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hu-HU" sz="3200" dirty="0" smtClean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Algoritmus háromszög</a:t>
                </a:r>
                <a:endParaRPr lang="hu-HU" sz="32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hu-HU" sz="3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Be: </a:t>
                </a:r>
                <a:r>
                  <a:rPr lang="hu-HU" sz="3200" dirty="0" err="1" smtClean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a,b,c</a:t>
                </a:r>
                <a:endParaRPr lang="hu-HU" sz="32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hu-HU" sz="3200" dirty="0" smtClean="0">
                    <a:latin typeface="Courier New" panose="02070309020205020404" pitchFamily="49" charset="0"/>
                    <a:cs typeface="Courier New" panose="02070309020205020404" pitchFamily="49" charset="0"/>
                  </a:rPr>
                  <a:t>K=</a:t>
                </a:r>
                <a:r>
                  <a:rPr lang="hu-HU" sz="3200" dirty="0" err="1" smtClean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a+b+c</a:t>
                </a:r>
                <a:endParaRPr lang="hu-HU" sz="3200" dirty="0" smtClean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hu-HU" sz="3200" dirty="0" smtClean="0">
                    <a:latin typeface="Courier New" panose="02070309020205020404" pitchFamily="49" charset="0"/>
                    <a:cs typeface="Courier New" panose="02070309020205020404" pitchFamily="49" charset="0"/>
                  </a:rPr>
                  <a:t>s=K/2</a:t>
                </a:r>
                <a:endParaRPr lang="hu-HU" sz="32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hu-HU" sz="3200" dirty="0" smtClean="0">
                    <a:latin typeface="Courier New" panose="02070309020205020404" pitchFamily="49" charset="0"/>
                    <a:cs typeface="Courier New" panose="02070309020205020404" pitchFamily="49" charset="0"/>
                  </a:rPr>
                  <a:t>T=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hu-HU" sz="320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radPr>
                      <m:deg/>
                      <m:e>
                        <m:r>
                          <a:rPr lang="hu-HU" sz="3200" b="0" i="1" smtClean="0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𝑠</m:t>
                        </m:r>
                        <m:r>
                          <a:rPr lang="hu-HU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∙</m:t>
                        </m:r>
                        <m:d>
                          <m:dPr>
                            <m:ctrlPr>
                              <a:rPr lang="hu-HU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dPr>
                          <m:e>
                            <m:r>
                              <a:rPr lang="hu-HU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𝑠</m:t>
                            </m:r>
                            <m:r>
                              <a:rPr lang="hu-HU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−</m:t>
                            </m:r>
                            <m:r>
                              <a:rPr lang="hu-HU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𝑎</m:t>
                            </m:r>
                          </m:e>
                        </m:d>
                        <m:r>
                          <a:rPr lang="hu-HU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∙</m:t>
                        </m:r>
                        <m:d>
                          <m:dPr>
                            <m:ctrlPr>
                              <a:rPr lang="hu-HU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dPr>
                          <m:e>
                            <m:r>
                              <a:rPr lang="hu-HU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𝑠</m:t>
                            </m:r>
                            <m:r>
                              <a:rPr lang="hu-HU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−</m:t>
                            </m:r>
                            <m:r>
                              <a:rPr lang="hu-HU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𝑏</m:t>
                            </m:r>
                          </m:e>
                        </m:d>
                        <m:r>
                          <a:rPr lang="hu-HU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∙</m:t>
                        </m:r>
                        <m:d>
                          <m:dPr>
                            <m:ctrlPr>
                              <a:rPr lang="hu-HU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dPr>
                          <m:e>
                            <m:r>
                              <a:rPr lang="hu-HU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𝑠</m:t>
                            </m:r>
                            <m:r>
                              <a:rPr lang="hu-HU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−</m:t>
                            </m:r>
                            <m:r>
                              <a:rPr lang="hu-HU" sz="32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𝑐</m:t>
                            </m:r>
                          </m:e>
                        </m:d>
                      </m:e>
                    </m:rad>
                  </m:oMath>
                </a14:m>
                <a:endParaRPr lang="hu-HU" sz="32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hu-HU" sz="32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Ki:K,T</a:t>
                </a:r>
                <a:endParaRPr lang="hu-HU" sz="32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0" indent="0">
                  <a:buNone/>
                </a:pPr>
                <a:r>
                  <a:rPr lang="hu-HU" sz="32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Algoritmus vége</a:t>
                </a:r>
              </a:p>
            </p:txBody>
          </p:sp>
        </mc:Choice>
        <mc:Fallback xmlns="">
          <p:sp>
            <p:nvSpPr>
              <p:cNvPr id="3" name="Tartalom hely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3032" y="1068947"/>
                <a:ext cx="12088968" cy="5499278"/>
              </a:xfrm>
              <a:blipFill>
                <a:blip r:embed="rId2"/>
                <a:stretch>
                  <a:fillRect l="-1311"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lyamatábra: Bekötés 3"/>
          <p:cNvSpPr/>
          <p:nvPr/>
        </p:nvSpPr>
        <p:spPr>
          <a:xfrm>
            <a:off x="9540715" y="254001"/>
            <a:ext cx="1565274" cy="521547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START</a:t>
            </a:r>
            <a:endParaRPr lang="hu-HU" dirty="0"/>
          </a:p>
        </p:txBody>
      </p:sp>
      <p:sp>
        <p:nvSpPr>
          <p:cNvPr id="5" name="Lefelé nyíl 4"/>
          <p:cNvSpPr/>
          <p:nvPr/>
        </p:nvSpPr>
        <p:spPr>
          <a:xfrm>
            <a:off x="10132852" y="787824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6" name="Folyamatábra: Adatok 5"/>
          <p:cNvSpPr/>
          <p:nvPr/>
        </p:nvSpPr>
        <p:spPr>
          <a:xfrm>
            <a:off x="8976835" y="1395307"/>
            <a:ext cx="2423160" cy="521547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Be: </a:t>
            </a:r>
            <a:r>
              <a:rPr lang="hu-HU" dirty="0" err="1" smtClean="0"/>
              <a:t>a,b,c</a:t>
            </a:r>
            <a:endParaRPr lang="hu-HU" dirty="0"/>
          </a:p>
        </p:txBody>
      </p:sp>
      <p:sp>
        <p:nvSpPr>
          <p:cNvPr id="7" name="Lefelé nyíl 6"/>
          <p:cNvSpPr/>
          <p:nvPr/>
        </p:nvSpPr>
        <p:spPr>
          <a:xfrm>
            <a:off x="10030618" y="3173519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8" name="Folyamatábra: Feldolgozás 7"/>
          <p:cNvSpPr/>
          <p:nvPr/>
        </p:nvSpPr>
        <p:spPr>
          <a:xfrm>
            <a:off x="8866981" y="2524337"/>
            <a:ext cx="2411094" cy="613835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>
                <a:cs typeface="Courier New" panose="02070309020205020404" pitchFamily="49" charset="0"/>
              </a:rPr>
              <a:t>K=</a:t>
            </a:r>
            <a:r>
              <a:rPr lang="hu-HU" dirty="0" err="1">
                <a:cs typeface="Courier New" panose="02070309020205020404" pitchFamily="49" charset="0"/>
              </a:rPr>
              <a:t>a+b+c</a:t>
            </a:r>
            <a:endParaRPr lang="hu-HU" dirty="0">
              <a:cs typeface="Courier New" panose="02070309020205020404" pitchFamily="49" charset="0"/>
            </a:endParaRPr>
          </a:p>
        </p:txBody>
      </p:sp>
      <p:sp>
        <p:nvSpPr>
          <p:cNvPr id="9" name="Folyamatábra: Adatok 8"/>
          <p:cNvSpPr/>
          <p:nvPr/>
        </p:nvSpPr>
        <p:spPr>
          <a:xfrm>
            <a:off x="8559958" y="5002899"/>
            <a:ext cx="2718117" cy="581130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Ki: K, T</a:t>
            </a:r>
            <a:endParaRPr lang="hu-HU" dirty="0"/>
          </a:p>
        </p:txBody>
      </p:sp>
      <p:sp>
        <p:nvSpPr>
          <p:cNvPr id="10" name="Lefelé nyíl 9"/>
          <p:cNvSpPr/>
          <p:nvPr/>
        </p:nvSpPr>
        <p:spPr>
          <a:xfrm>
            <a:off x="10030618" y="1945217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1" name="Folyamatábra: Bekötés 10"/>
          <p:cNvSpPr/>
          <p:nvPr/>
        </p:nvSpPr>
        <p:spPr>
          <a:xfrm>
            <a:off x="9206071" y="6124997"/>
            <a:ext cx="1565274" cy="521547"/>
          </a:xfrm>
          <a:prstGeom prst="flowChart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u-HU" dirty="0" smtClean="0"/>
              <a:t>STOP</a:t>
            </a:r>
            <a:endParaRPr lang="hu-HU" dirty="0"/>
          </a:p>
        </p:txBody>
      </p:sp>
      <p:sp>
        <p:nvSpPr>
          <p:cNvPr id="12" name="Lefelé nyíl 11"/>
          <p:cNvSpPr/>
          <p:nvPr/>
        </p:nvSpPr>
        <p:spPr>
          <a:xfrm>
            <a:off x="9845299" y="5545877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p:sp>
        <p:nvSpPr>
          <p:cNvPr id="13" name="Lefelé nyíl 12"/>
          <p:cNvSpPr/>
          <p:nvPr/>
        </p:nvSpPr>
        <p:spPr>
          <a:xfrm>
            <a:off x="9988708" y="4421228"/>
            <a:ext cx="381000" cy="579120"/>
          </a:xfrm>
          <a:prstGeom prst="downArrow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hu-H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Folyamatábra: Feldolgozás 13"/>
              <p:cNvSpPr/>
              <p:nvPr/>
            </p:nvSpPr>
            <p:spPr>
              <a:xfrm>
                <a:off x="8559958" y="3772046"/>
                <a:ext cx="3405619" cy="613835"/>
              </a:xfrm>
              <a:prstGeom prst="flowChartProcess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hu-HU" dirty="0">
                    <a:cs typeface="Courier New" panose="02070309020205020404" pitchFamily="49" charset="0"/>
                  </a:rPr>
                  <a:t>T=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hu-HU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</m:ctrlPr>
                      </m:radPr>
                      <m:deg/>
                      <m:e>
                        <m:r>
                          <a:rPr lang="hu-HU" i="1">
                            <a:latin typeface="Cambria Math" panose="02040503050406030204" pitchFamily="18" charset="0"/>
                            <a:cs typeface="Courier New" panose="02070309020205020404" pitchFamily="49" charset="0"/>
                          </a:rPr>
                          <m:t>𝑠</m:t>
                        </m:r>
                        <m:r>
                          <a:rPr lang="hu-H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∙</m:t>
                        </m:r>
                        <m:d>
                          <m:dPr>
                            <m:ctrlP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d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𝑠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−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𝑎</m:t>
                            </m:r>
                          </m:e>
                        </m:d>
                        <m:r>
                          <a:rPr lang="hu-H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∙</m:t>
                        </m:r>
                        <m:d>
                          <m:dPr>
                            <m:ctrlP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d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𝑠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−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𝑏</m:t>
                            </m:r>
                          </m:e>
                        </m:d>
                        <m:r>
                          <a:rPr lang="hu-HU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ourier New" panose="02070309020205020404" pitchFamily="49" charset="0"/>
                          </a:rPr>
                          <m:t>∙</m:t>
                        </m:r>
                        <m:d>
                          <m:dPr>
                            <m:ctrlP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</m:ctrlPr>
                          </m:dPr>
                          <m:e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𝑠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−</m:t>
                            </m:r>
                            <m:r>
                              <a:rPr lang="hu-HU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ourier New" panose="02070309020205020404" pitchFamily="49" charset="0"/>
                              </a:rPr>
                              <m:t>𝑐</m:t>
                            </m:r>
                          </m:e>
                        </m:d>
                      </m:e>
                    </m:rad>
                  </m:oMath>
                </a14:m>
                <a:endParaRPr lang="hu-HU" dirty="0"/>
              </a:p>
            </p:txBody>
          </p:sp>
        </mc:Choice>
        <mc:Fallback xmlns="">
          <p:sp>
            <p:nvSpPr>
              <p:cNvPr id="14" name="Folyamatábra: Feldolgozás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9958" y="3772046"/>
                <a:ext cx="3405619" cy="613835"/>
              </a:xfrm>
              <a:prstGeom prst="flowChartProcess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u-H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57776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685801" y="254001"/>
            <a:ext cx="10131425" cy="814946"/>
          </a:xfrm>
        </p:spPr>
        <p:txBody>
          <a:bodyPr>
            <a:normAutofit/>
          </a:bodyPr>
          <a:lstStyle/>
          <a:p>
            <a:r>
              <a:rPr lang="hu-HU" dirty="0" smtClean="0"/>
              <a:t>Vezérlési szerkezetek</a:t>
            </a:r>
            <a:endParaRPr lang="hu-HU" dirty="0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103032" y="1068947"/>
            <a:ext cx="12088968" cy="5499278"/>
          </a:xfrm>
        </p:spPr>
        <p:txBody>
          <a:bodyPr>
            <a:normAutofit lnSpcReduction="10000"/>
          </a:bodyPr>
          <a:lstStyle/>
          <a:p>
            <a:r>
              <a:rPr lang="hu-HU" sz="3200" b="1" u="sng" dirty="0" smtClean="0"/>
              <a:t>Szekvencia:</a:t>
            </a:r>
            <a:r>
              <a:rPr lang="hu-HU" sz="3200" dirty="0" smtClean="0"/>
              <a:t> Utasítások egymás utáni végrehajtása</a:t>
            </a:r>
          </a:p>
          <a:p>
            <a:r>
              <a:rPr lang="hu-HU" sz="3200" b="1" u="sng" dirty="0" smtClean="0"/>
              <a:t>Szelekció:</a:t>
            </a:r>
            <a:r>
              <a:rPr lang="hu-HU" sz="3200" dirty="0" smtClean="0"/>
              <a:t> A </a:t>
            </a:r>
            <a:r>
              <a:rPr lang="hu-HU" sz="3200" dirty="0"/>
              <a:t>program adott pontján egy megadott feltétel megadása mellett eldöntjük, hogy</a:t>
            </a:r>
          </a:p>
          <a:p>
            <a:pPr lvl="1"/>
            <a:r>
              <a:rPr lang="hu-HU" sz="2800" dirty="0"/>
              <a:t>Végrehajtódik egy adott tevékenység, vagy nem.</a:t>
            </a:r>
          </a:p>
          <a:p>
            <a:pPr lvl="1"/>
            <a:r>
              <a:rPr lang="hu-HU" sz="2800" dirty="0"/>
              <a:t>Két megadott tevékenység közül melyik hajtódjon végre</a:t>
            </a:r>
          </a:p>
          <a:p>
            <a:r>
              <a:rPr lang="hu-HU" sz="3200" b="1" u="sng" dirty="0" smtClean="0"/>
              <a:t>Iteráció (ciklus):</a:t>
            </a:r>
            <a:r>
              <a:rPr lang="hu-HU" sz="3200" dirty="0" smtClean="0"/>
              <a:t> A program egy adott pontján egy tevékenységet többször egymás után ismételve hajt végre.</a:t>
            </a:r>
          </a:p>
          <a:p>
            <a:pPr marL="0" indent="0">
              <a:buNone/>
            </a:pPr>
            <a:r>
              <a:rPr lang="hu-HU" sz="3200" b="1" u="sng" dirty="0" smtClean="0"/>
              <a:t>Kétféle szemléletben vizsgáljuk meg ezeket:</a:t>
            </a:r>
          </a:p>
          <a:p>
            <a:pPr lvl="1"/>
            <a:r>
              <a:rPr lang="hu-HU" sz="2800" b="1" u="sng" dirty="0" smtClean="0"/>
              <a:t>Szintaktika:</a:t>
            </a:r>
            <a:r>
              <a:rPr lang="hu-HU" sz="2800" dirty="0" smtClean="0"/>
              <a:t> Az adott utasítás nyelvtani alakja</a:t>
            </a:r>
          </a:p>
          <a:p>
            <a:pPr lvl="1"/>
            <a:r>
              <a:rPr lang="hu-HU" sz="2800" b="1" u="sng" dirty="0" smtClean="0"/>
              <a:t>Szemantika:</a:t>
            </a:r>
            <a:r>
              <a:rPr lang="hu-HU" sz="2800" dirty="0" smtClean="0"/>
              <a:t> Az adott utasítás működése</a:t>
            </a:r>
            <a:endParaRPr lang="hu-HU" sz="2400" dirty="0" smtClean="0"/>
          </a:p>
        </p:txBody>
      </p:sp>
    </p:spTree>
    <p:extLst>
      <p:ext uri="{BB962C8B-B14F-4D97-AF65-F5344CB8AC3E}">
        <p14:creationId xmlns:p14="http://schemas.microsoft.com/office/powerpoint/2010/main" val="34065598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Égi">
  <a:themeElements>
    <a:clrScheme name="Égi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Égi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Égi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TC103457452[[fn=Égi]]</Template>
  <TotalTime>1264</TotalTime>
  <Words>293</Words>
  <Application>Microsoft Office PowerPoint</Application>
  <PresentationFormat>Szélesvásznú</PresentationFormat>
  <Paragraphs>70</Paragraphs>
  <Slides>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Courier New</vt:lpstr>
      <vt:lpstr>Égi</vt:lpstr>
      <vt:lpstr>Algoritmus</vt:lpstr>
      <vt:lpstr>Algoritmus</vt:lpstr>
      <vt:lpstr>Példa egyszerű programra</vt:lpstr>
      <vt:lpstr>Feladat</vt:lpstr>
      <vt:lpstr>Feladat</vt:lpstr>
      <vt:lpstr>Feladat</vt:lpstr>
      <vt:lpstr>Vezérlési szerkezetek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Ciklusok a C# nyelvben</dc:title>
  <dc:creator>Péter Miklós</dc:creator>
  <cp:lastModifiedBy>Péter Miklós</cp:lastModifiedBy>
  <cp:revision>315</cp:revision>
  <dcterms:created xsi:type="dcterms:W3CDTF">2014-11-05T16:55:57Z</dcterms:created>
  <dcterms:modified xsi:type="dcterms:W3CDTF">2016-01-01T14:19:11Z</dcterms:modified>
</cp:coreProperties>
</file>