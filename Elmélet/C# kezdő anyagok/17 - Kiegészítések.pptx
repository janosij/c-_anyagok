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13"/>
  </p:handoutMasterIdLst>
  <p:sldIdLst>
    <p:sldId id="284" r:id="rId2"/>
    <p:sldId id="269" r:id="rId3"/>
    <p:sldId id="268" r:id="rId4"/>
    <p:sldId id="275" r:id="rId5"/>
    <p:sldId id="277" r:id="rId6"/>
    <p:sldId id="278" r:id="rId7"/>
    <p:sldId id="276" r:id="rId8"/>
    <p:sldId id="279" r:id="rId9"/>
    <p:sldId id="270" r:id="rId10"/>
    <p:sldId id="282" r:id="rId11"/>
    <p:sldId id="28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4660"/>
  </p:normalViewPr>
  <p:slideViewPr>
    <p:cSldViewPr snapToGrid="0">
      <p:cViewPr varScale="1">
        <p:scale>
          <a:sx n="87" d="100"/>
          <a:sy n="87" d="100"/>
        </p:scale>
        <p:origin x="51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2018. 04. 03.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Összesítő függvények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658907"/>
            <a:ext cx="11641933" cy="5889811"/>
          </a:xfrm>
        </p:spPr>
        <p:txBody>
          <a:bodyPr>
            <a:noAutofit/>
          </a:bodyPr>
          <a:lstStyle/>
          <a:p>
            <a:r>
              <a:rPr lang="hu-H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Elemek számának meghatározása: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u-H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Legnagyobb elem kiválasztása: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</a:p>
          <a:p>
            <a:r>
              <a:rPr lang="hu-H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Legkisebb elem kiválasztása: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</a:p>
          <a:p>
            <a:r>
              <a:rPr lang="hu-H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Összeadás: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  <a:p>
            <a:r>
              <a:rPr lang="hu-H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Átlag számítása: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következőképpen lehet az összes összegző függvényt használni, pl.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Sum: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L.Sum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(x=&gt;x.mező)</a:t>
            </a:r>
          </a:p>
          <a:p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Ekkor a ”mező” szerint lesz összesítve a lista elemei.</a:t>
            </a:r>
          </a:p>
          <a:p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 nem akarunk feltételt írni, csak pl. összeadni az elemeket: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L.Sum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16533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Példák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658907"/>
            <a:ext cx="11641933" cy="5889811"/>
          </a:xfrm>
        </p:spPr>
        <p:txBody>
          <a:bodyPr>
            <a:noAutofit/>
          </a:bodyPr>
          <a:lstStyle/>
          <a:p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Határozzuk meg az 1980 után születettek átlagos írásbeli pontszámát: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adatok.Where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(x =&gt;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x.szul_ev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&gt;1980).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(x =&gt;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x.irasbeli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Határozzuk meg az alapfokú nyelvvizsgán legtöbb pontot elért ember legmagasabb pontszámát!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adatok.Where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(x =&gt; x.szint=="alap").Max(x =&gt;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x.szobeli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hu-H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Megjegyzés: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Ezzel a módszerrel nem tudunk meghatározni olyat, hogy pl. kinek volt a legtöbb pontja, ehhez a </a:t>
            </a:r>
            <a:r>
              <a:rPr lang="hu-H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rendezés+First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vagy Last() kell.</a:t>
            </a:r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9278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ANY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658907"/>
            <a:ext cx="11641933" cy="5889811"/>
          </a:xfrm>
        </p:spPr>
        <p:txBody>
          <a:bodyPr>
            <a:noAutofit/>
          </a:bodyPr>
          <a:lstStyle/>
          <a:p>
            <a:r>
              <a:rPr lang="hu-HU" sz="3200" dirty="0">
                <a:cs typeface="Courier New" panose="02070309020205020404" pitchFamily="49" charset="0"/>
              </a:rPr>
              <a:t>Az </a:t>
            </a:r>
            <a:r>
              <a:rPr lang="hu-HU" sz="3200" dirty="0" err="1">
                <a:cs typeface="Courier New" panose="02070309020205020404" pitchFamily="49" charset="0"/>
              </a:rPr>
              <a:t>Any</a:t>
            </a:r>
            <a:r>
              <a:rPr lang="hu-HU" sz="3200" dirty="0">
                <a:cs typeface="Courier New" panose="02070309020205020404" pitchFamily="49" charset="0"/>
              </a:rPr>
              <a:t> segítségével megvizsgálhatjuk, hogy egy adott feltétellel szűkítve a listát, mennyi elem fog maradni. </a:t>
            </a:r>
            <a:r>
              <a:rPr lang="hu-HU" sz="3200" b="1" u="sng" dirty="0">
                <a:cs typeface="Courier New" panose="02070309020205020404" pitchFamily="49" charset="0"/>
              </a:rPr>
              <a:t>Használata: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var v=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L.Any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algn="ctr">
              <a:buNone/>
            </a:pPr>
            <a:r>
              <a:rPr lang="hu-HU" sz="3200" dirty="0">
                <a:cs typeface="Courier New" panose="02070309020205020404" pitchFamily="49" charset="0"/>
              </a:rPr>
              <a:t>Vagy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var v=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L.Any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(feltétel)</a:t>
            </a:r>
          </a:p>
          <a:p>
            <a:pPr marL="0" indent="0">
              <a:buNone/>
            </a:pPr>
            <a:r>
              <a:rPr lang="hu-HU" sz="3200" dirty="0">
                <a:cs typeface="Courier New" panose="02070309020205020404" pitchFamily="49" charset="0"/>
              </a:rPr>
              <a:t>Az L helyére kerülhet lista, vagy egy teljes LINQ lekérdezések sorozata (</a:t>
            </a:r>
            <a:r>
              <a:rPr lang="hu-HU" sz="3200" dirty="0" err="1">
                <a:cs typeface="Courier New" panose="02070309020205020404" pitchFamily="49" charset="0"/>
              </a:rPr>
              <a:t>Select</a:t>
            </a:r>
            <a:r>
              <a:rPr lang="hu-HU" sz="3200" dirty="0">
                <a:cs typeface="Courier New" panose="02070309020205020404" pitchFamily="49" charset="0"/>
              </a:rPr>
              <a:t>, </a:t>
            </a:r>
            <a:r>
              <a:rPr lang="hu-HU" sz="3200" dirty="0" err="1">
                <a:cs typeface="Courier New" panose="02070309020205020404" pitchFamily="49" charset="0"/>
              </a:rPr>
              <a:t>Where</a:t>
            </a:r>
            <a:r>
              <a:rPr lang="hu-HU" sz="3200" dirty="0">
                <a:cs typeface="Courier New" panose="02070309020205020404" pitchFamily="49" charset="0"/>
              </a:rPr>
              <a:t>,…)</a:t>
            </a:r>
          </a:p>
          <a:p>
            <a:pPr marL="0" indent="0">
              <a:buNone/>
            </a:pPr>
            <a:r>
              <a:rPr lang="hu-HU" sz="3200" dirty="0">
                <a:cs typeface="Courier New" panose="02070309020205020404" pitchFamily="49" charset="0"/>
              </a:rPr>
              <a:t>Az első esetben megvizsgáljuk, hogy mennyi eleme van L-nek, a második esetben pedig azt vizsgáljuk, hogy mennyi eleme van L-nek az adott feltétel mellett.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3600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 </a:t>
            </a:r>
            <a:r>
              <a:rPr lang="hu-HU" dirty="0" err="1"/>
              <a:t>ANY-re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658906"/>
            <a:ext cx="11641933" cy="6199093"/>
          </a:xfrm>
        </p:spPr>
        <p:txBody>
          <a:bodyPr>
            <a:noAutofit/>
          </a:bodyPr>
          <a:lstStyle/>
          <a:p>
            <a:r>
              <a:rPr lang="hu-HU" sz="3200" dirty="0">
                <a:cs typeface="Courier New" panose="02070309020205020404" pitchFamily="49" charset="0"/>
              </a:rPr>
              <a:t>Van-e olyan ember, aki 1980-ban született és Debrecenben vizsgázik. A kétféle megoldás a v1 és v2-be fog kerülni.</a:t>
            </a:r>
          </a:p>
          <a:p>
            <a:pPr marL="0" indent="0">
              <a:buNone/>
            </a:pPr>
            <a:r>
              <a:rPr lang="hu-HU" sz="2800" dirty="0">
                <a:cs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var v1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adatok.Where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x =&gt;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x.szul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== 1980 &amp;&amp;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x.vizsgahely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== "Debrecen„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Any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var v2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adatok.Any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(x=&gt;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x.szul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==1980 &amp;&amp;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x.vizsgahely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=="Debrecen");</a:t>
            </a:r>
          </a:p>
          <a:p>
            <a:pPr marL="0" indent="0">
              <a:buNone/>
            </a:pPr>
            <a:r>
              <a:rPr lang="hu-HU" sz="3200" dirty="0">
                <a:cs typeface="Courier New" panose="020703090202050204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4481650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ALL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658907"/>
            <a:ext cx="11641933" cy="5889811"/>
          </a:xfrm>
        </p:spPr>
        <p:txBody>
          <a:bodyPr>
            <a:noAutofit/>
          </a:bodyPr>
          <a:lstStyle/>
          <a:p>
            <a:r>
              <a:rPr lang="hu-HU" sz="3200" dirty="0">
                <a:cs typeface="Courier New" panose="02070309020205020404" pitchFamily="49" charset="0"/>
              </a:rPr>
              <a:t>Az </a:t>
            </a:r>
            <a:r>
              <a:rPr lang="hu-HU" sz="3200" dirty="0" err="1">
                <a:cs typeface="Courier New" panose="02070309020205020404" pitchFamily="49" charset="0"/>
              </a:rPr>
              <a:t>All</a:t>
            </a:r>
            <a:r>
              <a:rPr lang="hu-HU" sz="3200" dirty="0">
                <a:cs typeface="Courier New" panose="02070309020205020404" pitchFamily="49" charset="0"/>
              </a:rPr>
              <a:t> segítségével megvizsgálhatjuk, hogy egy adott feltételt teljesít-e a lista összes eleme. Használata: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var v=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L.All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(feltétel);</a:t>
            </a:r>
          </a:p>
          <a:p>
            <a:pPr marL="0" indent="0">
              <a:buNone/>
            </a:pPr>
            <a:r>
              <a:rPr lang="hu-HU" sz="3200" b="1" u="sng" dirty="0">
                <a:cs typeface="Courier New" panose="02070309020205020404" pitchFamily="49" charset="0"/>
              </a:rPr>
              <a:t>Megjegyzés:</a:t>
            </a:r>
            <a:r>
              <a:rPr lang="hu-HU" sz="3200" dirty="0">
                <a:cs typeface="Courier New" panose="02070309020205020404" pitchFamily="49" charset="0"/>
              </a:rPr>
              <a:t> Használata hasonló az </a:t>
            </a:r>
            <a:r>
              <a:rPr lang="hu-HU" sz="3200" dirty="0" err="1">
                <a:cs typeface="Courier New" panose="02070309020205020404" pitchFamily="49" charset="0"/>
              </a:rPr>
              <a:t>Any-hez</a:t>
            </a:r>
            <a:r>
              <a:rPr lang="hu-HU" sz="3200" dirty="0">
                <a:cs typeface="Courier New" panose="02070309020205020404" pitchFamily="49" charset="0"/>
              </a:rPr>
              <a:t>, de itt kötelező megadni feltételt.</a:t>
            </a:r>
          </a:p>
          <a:p>
            <a:pPr marL="0" indent="0">
              <a:buNone/>
            </a:pPr>
            <a:r>
              <a:rPr lang="hu-HU" sz="3200" dirty="0">
                <a:cs typeface="Courier New" panose="02070309020205020404" pitchFamily="49" charset="0"/>
              </a:rPr>
              <a:t>A továbbiakban amikor L-et írunk, akkor az jelenthet egy listát, vagy lekérdezés eredményét is.</a:t>
            </a:r>
          </a:p>
        </p:txBody>
      </p:sp>
    </p:spTree>
    <p:extLst>
      <p:ext uri="{BB962C8B-B14F-4D97-AF65-F5344CB8AC3E}">
        <p14:creationId xmlns:p14="http://schemas.microsoft.com/office/powerpoint/2010/main" val="26799545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 </a:t>
            </a:r>
            <a:r>
              <a:rPr lang="hu-HU" dirty="0" err="1"/>
              <a:t>ALL-ra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658906"/>
            <a:ext cx="11641933" cy="6078070"/>
          </a:xfrm>
        </p:spPr>
        <p:txBody>
          <a:bodyPr>
            <a:noAutofit/>
          </a:bodyPr>
          <a:lstStyle/>
          <a:p>
            <a:r>
              <a:rPr lang="hu-HU" sz="2800" dirty="0">
                <a:cs typeface="Courier New" panose="02070309020205020404" pitchFamily="49" charset="0"/>
              </a:rPr>
              <a:t>Mindenki 1980-ban vagy utána született-e, és a szóbeli vizsgán legalább 30 pontot elért?</a:t>
            </a:r>
          </a:p>
          <a:p>
            <a:pPr marL="0" indent="0">
              <a:buNone/>
            </a:pPr>
            <a:r>
              <a:rPr lang="hu-HU" sz="2800" dirty="0">
                <a:cs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var v =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adatok.All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 =&gt;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x.szul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&gt;= 1980 &amp;&amp;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x.szobeli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&gt;= 30);</a:t>
            </a:r>
          </a:p>
          <a:p>
            <a:pPr marL="0" indent="0">
              <a:buNone/>
            </a:pPr>
            <a:r>
              <a:rPr lang="hu-HU" sz="2800" dirty="0">
                <a:cs typeface="Courier New" panose="02070309020205020404" pitchFamily="49" charset="0"/>
              </a:rPr>
              <a:t>Igaz-e, hogy mindenki, aki 1990-ben vagy utána született, a vizsgán legalább 90 pontot elért?</a:t>
            </a:r>
          </a:p>
          <a:p>
            <a:pPr marL="0" indent="0">
              <a:buNone/>
            </a:pPr>
            <a:r>
              <a:rPr lang="hu-HU" sz="2800" dirty="0"/>
              <a:t> 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var vizsgapont =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adatok.Select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 =&gt;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endParaRPr lang="hu-H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pont =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x.szobeli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x.irasbeli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szul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x.szul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</a:t>
            </a:r>
            <a:endParaRPr lang="hu-H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}).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ToList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var v_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vizsgapont.Where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(x=&gt;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x.szul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&gt;=1990).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 =&gt;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x.pont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&gt;= 90);</a:t>
            </a:r>
          </a:p>
        </p:txBody>
      </p:sp>
    </p:spTree>
    <p:extLst>
      <p:ext uri="{BB962C8B-B14F-4D97-AF65-F5344CB8AC3E}">
        <p14:creationId xmlns:p14="http://schemas.microsoft.com/office/powerpoint/2010/main" val="33664046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Bizonyos elemek kiválasztása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658906"/>
            <a:ext cx="11641933" cy="6199093"/>
          </a:xfrm>
        </p:spPr>
        <p:txBody>
          <a:bodyPr>
            <a:noAutofit/>
          </a:bodyPr>
          <a:lstStyle/>
          <a:p>
            <a:r>
              <a:rPr lang="hu-HU" sz="3200" dirty="0" err="1">
                <a:cs typeface="Courier New" panose="02070309020205020404" pitchFamily="49" charset="0"/>
              </a:rPr>
              <a:t>First</a:t>
            </a:r>
            <a:r>
              <a:rPr lang="hu-HU" sz="3200" dirty="0">
                <a:cs typeface="Courier New" panose="02070309020205020404" pitchFamily="49" charset="0"/>
              </a:rPr>
              <a:t>: A lista első elemének kiválasztása. Megadható feltétel is.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Használata: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elso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L.First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hu-HU" sz="3200" dirty="0">
                <a:cs typeface="Courier New" panose="02070309020205020404" pitchFamily="49" charset="0"/>
              </a:rPr>
              <a:t>vagy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elso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L.First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(feltétel)</a:t>
            </a:r>
          </a:p>
          <a:p>
            <a:pPr marL="0" indent="0">
              <a:buNone/>
            </a:pPr>
            <a:r>
              <a:rPr lang="hu-HU" sz="3200" b="1" u="sng" dirty="0">
                <a:cs typeface="Courier New" panose="02070309020205020404" pitchFamily="49" charset="0"/>
              </a:rPr>
              <a:t>Megjegyzés:</a:t>
            </a:r>
            <a:r>
              <a:rPr lang="hu-HU" sz="3200" dirty="0">
                <a:cs typeface="Courier New" panose="02070309020205020404" pitchFamily="49" charset="0"/>
              </a:rPr>
              <a:t> Ha nincs egyetlen sor sem ez eredményben, akkor kivétel váltódik ki. Ennek kiküszöbölésére használható a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FirstOrDefault</a:t>
            </a:r>
            <a:r>
              <a:rPr lang="hu-HU" sz="3200" dirty="0">
                <a:cs typeface="Courier New" panose="02070309020205020404" pitchFamily="49" charset="0"/>
              </a:rPr>
              <a:t>, ahol ez esetben a típus alapértelmezett értékét adja vissza. (Objektum esetében ez 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hu-HU" sz="3200" dirty="0"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219087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Bizonyos elemek kiválasztása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658906"/>
            <a:ext cx="11641933" cy="6199093"/>
          </a:xfrm>
        </p:spPr>
        <p:txBody>
          <a:bodyPr>
            <a:noAutofit/>
          </a:bodyPr>
          <a:lstStyle/>
          <a:p>
            <a:r>
              <a:rPr lang="hu-HU" sz="3200" dirty="0" err="1">
                <a:cs typeface="Courier New" panose="02070309020205020404" pitchFamily="49" charset="0"/>
              </a:rPr>
              <a:t>Last</a:t>
            </a:r>
            <a:r>
              <a:rPr lang="hu-HU" sz="3200" dirty="0">
                <a:cs typeface="Courier New" panose="02070309020205020404" pitchFamily="49" charset="0"/>
              </a:rPr>
              <a:t>: A lista utolsó elemének kiválasztása. Ugyanúgy lehet használni, mint a </a:t>
            </a:r>
            <a:r>
              <a:rPr lang="hu-HU" sz="3200" dirty="0" err="1">
                <a:cs typeface="Courier New" panose="02070309020205020404" pitchFamily="49" charset="0"/>
              </a:rPr>
              <a:t>First</a:t>
            </a:r>
            <a:r>
              <a:rPr lang="hu-HU" sz="3200" dirty="0">
                <a:cs typeface="Courier New" panose="02070309020205020404" pitchFamily="49" charset="0"/>
              </a:rPr>
              <a:t> esetében, és szintén megadható feltétel is. </a:t>
            </a:r>
          </a:p>
          <a:p>
            <a:r>
              <a:rPr lang="hu-HU" sz="3200" dirty="0" err="1">
                <a:cs typeface="Courier New" panose="02070309020205020404" pitchFamily="49" charset="0"/>
              </a:rPr>
              <a:t>ElementAt</a:t>
            </a:r>
            <a:r>
              <a:rPr lang="hu-HU" sz="3200" dirty="0">
                <a:cs typeface="Courier New" panose="02070309020205020404" pitchFamily="49" charset="0"/>
              </a:rPr>
              <a:t>: A listából egy adott elem kiválasztása. Használata:</a:t>
            </a:r>
          </a:p>
          <a:p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var elem=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L.ElementAt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(index);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Itt nem lehet feltételt megadni, ha azt szeretnénk, akkor kombinálni kell pl. a </a:t>
            </a:r>
            <a:r>
              <a:rPr lang="hu-HU" sz="3200" dirty="0" err="1">
                <a:cs typeface="Courier New" panose="02070309020205020404" pitchFamily="49" charset="0"/>
              </a:rPr>
              <a:t>Where-rel</a:t>
            </a:r>
            <a:r>
              <a:rPr lang="hu-HU" sz="3200" dirty="0">
                <a:cs typeface="Courier New" panose="02070309020205020404" pitchFamily="49" charset="0"/>
              </a:rPr>
              <a:t>.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Az indexelés itt is 0-tól kezdődik.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Mindkettőnél használható az </a:t>
            </a:r>
            <a:r>
              <a:rPr lang="hu-HU" sz="3200" dirty="0" err="1">
                <a:cs typeface="Courier New" panose="02070309020205020404" pitchFamily="49" charset="0"/>
              </a:rPr>
              <a:t>OrDefault</a:t>
            </a:r>
            <a:r>
              <a:rPr lang="hu-HU" sz="3200" dirty="0">
                <a:cs typeface="Courier New" panose="02070309020205020404" pitchFamily="49" charset="0"/>
              </a:rPr>
              <a:t> változat is, pl. </a:t>
            </a:r>
            <a:r>
              <a:rPr lang="hu-HU" sz="3200" dirty="0" err="1">
                <a:cs typeface="Courier New" panose="02070309020205020404" pitchFamily="49" charset="0"/>
              </a:rPr>
              <a:t>LastOrDefault</a:t>
            </a:r>
            <a:r>
              <a:rPr lang="hu-HU" sz="3200" dirty="0">
                <a:cs typeface="Courier New" panose="02070309020205020404" pitchFamily="49" charset="0"/>
              </a:rPr>
              <a:t>, ugyanúgy működik, mint a </a:t>
            </a:r>
            <a:r>
              <a:rPr lang="hu-HU" sz="3200" dirty="0" err="1">
                <a:cs typeface="Courier New" panose="02070309020205020404" pitchFamily="49" charset="0"/>
              </a:rPr>
              <a:t>First</a:t>
            </a:r>
            <a:r>
              <a:rPr lang="hu-HU" sz="3200" dirty="0">
                <a:cs typeface="Courier New" panose="02070309020205020404" pitchFamily="49" charset="0"/>
              </a:rPr>
              <a:t> esetében.</a:t>
            </a:r>
          </a:p>
        </p:txBody>
      </p:sp>
    </p:spTree>
    <p:extLst>
      <p:ext uri="{BB962C8B-B14F-4D97-AF65-F5344CB8AC3E}">
        <p14:creationId xmlns:p14="http://schemas.microsoft.com/office/powerpoint/2010/main" val="4029940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1068946"/>
            <a:ext cx="11641933" cy="5789053"/>
          </a:xfrm>
        </p:spPr>
        <p:txBody>
          <a:bodyPr>
            <a:noAutofit/>
          </a:bodyPr>
          <a:lstStyle/>
          <a:p>
            <a:r>
              <a:rPr lang="hu-HU" sz="2800" dirty="0"/>
              <a:t>Határozzuk meg annak a nevét, aki a legkésőbb született! Ha többen vannak, akkor az ABC sorrend szerinti első nevet válasszuk ki!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eloszor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adatok.OrderByDescending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x =&gt;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x.szul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ThenBy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=&gt;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x.nev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nev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hu-HU" sz="2800" dirty="0">
                <a:cs typeface="Courier New" panose="02070309020205020404" pitchFamily="49" charset="0"/>
              </a:rPr>
              <a:t>Határozzuk meg a 2. legjobb szóbeli eredményt elérő vizsgázó vizsgahelyét!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masodik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adatok.OrderByDescending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x =&gt;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x.szobeli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ElementAt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(1).vizsgahely;</a:t>
            </a:r>
          </a:p>
        </p:txBody>
      </p:sp>
    </p:spTree>
    <p:extLst>
      <p:ext uri="{BB962C8B-B14F-4D97-AF65-F5344CB8AC3E}">
        <p14:creationId xmlns:p14="http://schemas.microsoft.com/office/powerpoint/2010/main" val="27819782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Több elem kiválasztása egyszerre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1068946"/>
            <a:ext cx="11641933" cy="5789053"/>
          </a:xfrm>
        </p:spPr>
        <p:txBody>
          <a:bodyPr>
            <a:noAutofit/>
          </a:bodyPr>
          <a:lstStyle/>
          <a:p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Elemek átugrása</a:t>
            </a:r>
          </a:p>
          <a:p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Skip</a:t>
            </a:r>
            <a:r>
              <a:rPr lang="hu-HU" sz="2800" dirty="0">
                <a:latin typeface="+mj-lt"/>
                <a:cs typeface="Courier New" panose="02070309020205020404" pitchFamily="49" charset="0"/>
              </a:rPr>
              <a:t>: adott számú elem átugrása</a:t>
            </a:r>
          </a:p>
          <a:p>
            <a:r>
              <a:rPr lang="hu-HU" sz="2800" dirty="0">
                <a:latin typeface="+mj-lt"/>
                <a:cs typeface="Courier New" panose="02070309020205020404" pitchFamily="49" charset="0"/>
              </a:rPr>
              <a:t>Használata: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L.Skip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(elemszám).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ToList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SkipWhile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hu-HU" sz="2800" dirty="0">
                <a:cs typeface="Courier New" panose="02070309020205020404" pitchFamily="49" charset="0"/>
              </a:rPr>
              <a:t>Elemek átugrása addig, ameddig teljesítenek egy adott feltételt</a:t>
            </a:r>
          </a:p>
          <a:p>
            <a:r>
              <a:rPr lang="hu-HU" sz="2800" dirty="0">
                <a:cs typeface="Courier New" panose="02070309020205020404" pitchFamily="49" charset="0"/>
              </a:rPr>
              <a:t>Használata: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L.SkipWhile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(feltétel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lambda-kifejezéssel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ToList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hu-HU" sz="2800" dirty="0">
                <a:cs typeface="Courier New" panose="02070309020205020404" pitchFamily="49" charset="0"/>
              </a:rPr>
              <a:t>Bizonyos számú elem kiválasztása:</a:t>
            </a:r>
          </a:p>
          <a:p>
            <a:pPr lvl="1"/>
            <a:r>
              <a:rPr lang="hu-HU" sz="2400" dirty="0" err="1">
                <a:cs typeface="Courier New" panose="02070309020205020404" pitchFamily="49" charset="0"/>
              </a:rPr>
              <a:t>Take</a:t>
            </a:r>
            <a:r>
              <a:rPr lang="hu-HU" sz="2400" dirty="0">
                <a:cs typeface="Courier New" panose="02070309020205020404" pitchFamily="49" charset="0"/>
              </a:rPr>
              <a:t>, </a:t>
            </a:r>
            <a:r>
              <a:rPr lang="hu-HU" sz="2400" dirty="0" err="1">
                <a:cs typeface="Courier New" panose="02070309020205020404" pitchFamily="49" charset="0"/>
              </a:rPr>
              <a:t>TakeWhile</a:t>
            </a:r>
            <a:r>
              <a:rPr lang="hu-HU" sz="2400" dirty="0">
                <a:cs typeface="Courier New" panose="02070309020205020404" pitchFamily="49" charset="0"/>
              </a:rPr>
              <a:t> segítségével. Ugyanúgy kell használni, mint a </a:t>
            </a:r>
            <a:r>
              <a:rPr lang="hu-HU" sz="2400" dirty="0" err="1">
                <a:cs typeface="Courier New" panose="02070309020205020404" pitchFamily="49" charset="0"/>
              </a:rPr>
              <a:t>Skip</a:t>
            </a:r>
            <a:r>
              <a:rPr lang="hu-HU" sz="2400" dirty="0">
                <a:cs typeface="Courier New" panose="02070309020205020404" pitchFamily="49" charset="0"/>
              </a:rPr>
              <a:t>, </a:t>
            </a:r>
            <a:r>
              <a:rPr lang="hu-HU" sz="2400" dirty="0" err="1">
                <a:cs typeface="Courier New" panose="02070309020205020404" pitchFamily="49" charset="0"/>
              </a:rPr>
              <a:t>SkipWhile-t</a:t>
            </a:r>
            <a:r>
              <a:rPr lang="hu-HU" sz="2400" dirty="0">
                <a:cs typeface="Courier New" panose="02070309020205020404" pitchFamily="49" charset="0"/>
              </a:rPr>
              <a:t>.</a:t>
            </a:r>
          </a:p>
          <a:p>
            <a:endParaRPr lang="hu-HU" sz="28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0918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PÉLDÁK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1068946"/>
            <a:ext cx="11641933" cy="5789053"/>
          </a:xfrm>
        </p:spPr>
        <p:txBody>
          <a:bodyPr>
            <a:noAutofit/>
          </a:bodyPr>
          <a:lstStyle/>
          <a:p>
            <a:r>
              <a:rPr lang="hu-HU" sz="2800" dirty="0">
                <a:cs typeface="Courier New" panose="02070309020205020404" pitchFamily="49" charset="0"/>
              </a:rPr>
              <a:t>Válasszuk ki a listából évszám szerint növekvő sorrendben azokat az embereket, akik 1990 előtt születtek!</a:t>
            </a:r>
          </a:p>
          <a:p>
            <a:r>
              <a:rPr lang="hu-HU" sz="2800" dirty="0"/>
              <a:t>var take1=</a:t>
            </a:r>
            <a:r>
              <a:rPr lang="hu-HU" sz="2800" dirty="0" err="1"/>
              <a:t>adatok.OrderBy</a:t>
            </a:r>
            <a:r>
              <a:rPr lang="hu-HU" sz="2800" dirty="0"/>
              <a:t>(x =&gt; </a:t>
            </a:r>
            <a:r>
              <a:rPr lang="hu-HU" sz="2800" dirty="0" err="1"/>
              <a:t>x.szul</a:t>
            </a:r>
            <a:r>
              <a:rPr lang="hu-HU" sz="2800" dirty="0"/>
              <a:t>_</a:t>
            </a:r>
            <a:r>
              <a:rPr lang="hu-HU" sz="2800" dirty="0" err="1"/>
              <a:t>ev</a:t>
            </a:r>
            <a:r>
              <a:rPr lang="hu-HU" sz="2800" dirty="0"/>
              <a:t>).</a:t>
            </a:r>
            <a:r>
              <a:rPr lang="hu-HU" sz="2800" dirty="0" err="1"/>
              <a:t>TakeWhile</a:t>
            </a:r>
            <a:r>
              <a:rPr lang="hu-HU" sz="2800" dirty="0"/>
              <a:t>(</a:t>
            </a:r>
            <a:r>
              <a:rPr lang="hu-HU" sz="2800" dirty="0" err="1"/>
              <a:t>x</a:t>
            </a:r>
            <a:r>
              <a:rPr lang="hu-HU" sz="2800" dirty="0"/>
              <a:t> =&gt; </a:t>
            </a:r>
            <a:r>
              <a:rPr lang="hu-HU" sz="2800" dirty="0" err="1"/>
              <a:t>x.szul</a:t>
            </a:r>
            <a:r>
              <a:rPr lang="hu-HU" sz="2800" dirty="0"/>
              <a:t>_</a:t>
            </a:r>
            <a:r>
              <a:rPr lang="hu-HU" sz="2800" dirty="0" err="1"/>
              <a:t>ev</a:t>
            </a:r>
            <a:r>
              <a:rPr lang="hu-HU" sz="2800" dirty="0"/>
              <a:t> &lt; 1990).</a:t>
            </a:r>
            <a:r>
              <a:rPr lang="hu-HU" sz="2800" dirty="0" err="1"/>
              <a:t>ToList</a:t>
            </a:r>
            <a:r>
              <a:rPr lang="hu-HU" sz="2800" dirty="0"/>
              <a:t>();</a:t>
            </a:r>
          </a:p>
          <a:p>
            <a:r>
              <a:rPr lang="hu-HU" sz="2800" dirty="0">
                <a:cs typeface="Courier New" panose="02070309020205020404" pitchFamily="49" charset="0"/>
              </a:rPr>
              <a:t>Válasszuk ki a listából évszám szerint növekvő sorrendben azokat az embereket, akik </a:t>
            </a:r>
            <a:r>
              <a:rPr lang="hu-HU" sz="2800">
                <a:cs typeface="Courier New" panose="02070309020205020404" pitchFamily="49" charset="0"/>
              </a:rPr>
              <a:t>1990-ben vagy utána </a:t>
            </a:r>
            <a:r>
              <a:rPr lang="hu-HU" sz="2800" dirty="0">
                <a:cs typeface="Courier New" panose="02070309020205020404" pitchFamily="49" charset="0"/>
              </a:rPr>
              <a:t>születtek!</a:t>
            </a:r>
          </a:p>
          <a:p>
            <a:r>
              <a:rPr lang="hu-HU" sz="2800" dirty="0"/>
              <a:t>var take1=</a:t>
            </a:r>
            <a:r>
              <a:rPr lang="hu-HU" sz="2800" dirty="0" err="1"/>
              <a:t>adatok.OrderBy</a:t>
            </a:r>
            <a:r>
              <a:rPr lang="hu-HU" sz="2800" dirty="0"/>
              <a:t>(x =&gt; </a:t>
            </a:r>
            <a:r>
              <a:rPr lang="hu-HU" sz="2800" dirty="0" err="1"/>
              <a:t>x.szul</a:t>
            </a:r>
            <a:r>
              <a:rPr lang="hu-HU" sz="2800" dirty="0"/>
              <a:t>_</a:t>
            </a:r>
            <a:r>
              <a:rPr lang="hu-HU" sz="2800" dirty="0" err="1"/>
              <a:t>ev</a:t>
            </a:r>
            <a:r>
              <a:rPr lang="hu-HU" sz="2800" dirty="0"/>
              <a:t>).</a:t>
            </a:r>
            <a:r>
              <a:rPr lang="hu-HU" sz="2800" dirty="0" err="1"/>
              <a:t>SkipWhile</a:t>
            </a:r>
            <a:r>
              <a:rPr lang="hu-HU" sz="2800" dirty="0"/>
              <a:t>(</a:t>
            </a:r>
            <a:r>
              <a:rPr lang="hu-HU" sz="2800" dirty="0" err="1"/>
              <a:t>x</a:t>
            </a:r>
            <a:r>
              <a:rPr lang="hu-HU" sz="2800" dirty="0"/>
              <a:t> =&gt; </a:t>
            </a:r>
            <a:r>
              <a:rPr lang="hu-HU" sz="2800" dirty="0" err="1"/>
              <a:t>x.szul</a:t>
            </a:r>
            <a:r>
              <a:rPr lang="hu-HU" sz="2800" dirty="0"/>
              <a:t>_</a:t>
            </a:r>
            <a:r>
              <a:rPr lang="hu-HU" sz="2800" dirty="0" err="1"/>
              <a:t>ev</a:t>
            </a:r>
            <a:r>
              <a:rPr lang="hu-HU" sz="2800" dirty="0"/>
              <a:t> &lt; 1990).</a:t>
            </a:r>
            <a:r>
              <a:rPr lang="hu-HU" sz="2800" dirty="0" err="1"/>
              <a:t>ToList</a:t>
            </a:r>
            <a:r>
              <a:rPr lang="hu-HU" sz="28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1361842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1387</TotalTime>
  <Words>817</Words>
  <Application>Microsoft Office PowerPoint</Application>
  <PresentationFormat>Szélesvásznú</PresentationFormat>
  <Paragraphs>79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Times New Roman</vt:lpstr>
      <vt:lpstr>Égi</vt:lpstr>
      <vt:lpstr>Összesítő függvények</vt:lpstr>
      <vt:lpstr>Példák</vt:lpstr>
      <vt:lpstr>ANY</vt:lpstr>
      <vt:lpstr>Példa ANY-re</vt:lpstr>
      <vt:lpstr>ALL</vt:lpstr>
      <vt:lpstr>Példa ALL-ra</vt:lpstr>
      <vt:lpstr>Bizonyos elemek kiválasztása</vt:lpstr>
      <vt:lpstr>Bizonyos elemek kiválasztása</vt:lpstr>
      <vt:lpstr>példa</vt:lpstr>
      <vt:lpstr>Több elem kiválasztása egyszerre</vt:lpstr>
      <vt:lpstr>PÉLDÁK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Miki</cp:lastModifiedBy>
  <cp:revision>336</cp:revision>
  <dcterms:created xsi:type="dcterms:W3CDTF">2014-11-05T16:55:57Z</dcterms:created>
  <dcterms:modified xsi:type="dcterms:W3CDTF">2018-04-03T17:05:03Z</dcterms:modified>
</cp:coreProperties>
</file>